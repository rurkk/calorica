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1826754b854490" /><Relationship Type="http://schemas.openxmlformats.org/officeDocument/2006/relationships/extended-properties" Target="/docProps/app.xml" Id="R25d7447d7f894a00" /><Relationship Type="http://schemas.openxmlformats.org/officeDocument/2006/relationships/officeDocument" Target="/ppt/presentation.xml" Id="R14197857291a4c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0a6ccdb9034d0d"/>
  </p:sldMasterIdLst>
  <p:notesMasterIdLst>
    <p:notesMasterId xmlns:r="http://schemas.openxmlformats.org/officeDocument/2006/relationships" r:id="Rf0fb1e2c4add4d9f"/>
  </p:notesMasterIdLst>
  <p:sldIdLst>
    <p:sldId xmlns:r="http://schemas.openxmlformats.org/officeDocument/2006/relationships" id="256" r:id="Rb24ff4d05f9f43b5"/>
    <p:sldId xmlns:r="http://schemas.openxmlformats.org/officeDocument/2006/relationships" id="257" r:id="R02a2113b01c94881"/>
    <p:sldId xmlns:r="http://schemas.openxmlformats.org/officeDocument/2006/relationships" id="258" r:id="Re5522f06cbd44b80"/>
    <p:sldId xmlns:r="http://schemas.openxmlformats.org/officeDocument/2006/relationships" id="259" r:id="R1a318e46058346d7"/>
    <p:sldId xmlns:r="http://schemas.openxmlformats.org/officeDocument/2006/relationships" id="260" r:id="R29b712597dd14fdb"/>
    <p:sldId xmlns:r="http://schemas.openxmlformats.org/officeDocument/2006/relationships" id="261" r:id="R3ea8f5b935a04570"/>
    <p:sldId xmlns:r="http://schemas.openxmlformats.org/officeDocument/2006/relationships" id="262" r:id="Rb4a96a6865a04d75"/>
    <p:sldId xmlns:r="http://schemas.openxmlformats.org/officeDocument/2006/relationships" id="263" r:id="Rd8415f31d1c54c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42677e629d4ec8" /><Relationship Type="http://schemas.openxmlformats.org/officeDocument/2006/relationships/slideMaster" Target="/ppt/slideMasters/slideMaster1.xml" Id="R140a6ccdb9034d0d" /><Relationship Type="http://schemas.openxmlformats.org/officeDocument/2006/relationships/notesMaster" Target="/ppt/notesMasters/notesMaster1.xml" Id="Rf0fb1e2c4add4d9f" /><Relationship Type="http://schemas.openxmlformats.org/officeDocument/2006/relationships/presProps" Target="/ppt/presProps.xml" Id="R327f3277f6434f4e" /><Relationship Type="http://schemas.openxmlformats.org/officeDocument/2006/relationships/tableStyles" Target="/ppt/tableStyles.xml" Id="Rb1a7a521da3340c0" /><Relationship Type="http://schemas.openxmlformats.org/officeDocument/2006/relationships/slide" Target="/ppt/slides/slide1.xml" Id="Rb24ff4d05f9f43b5" /><Relationship Type="http://schemas.openxmlformats.org/officeDocument/2006/relationships/slide" Target="/ppt/slides/slide2.xml" Id="R02a2113b01c94881" /><Relationship Type="http://schemas.openxmlformats.org/officeDocument/2006/relationships/slide" Target="/ppt/slides/slide3.xml" Id="Re5522f06cbd44b80" /><Relationship Type="http://schemas.openxmlformats.org/officeDocument/2006/relationships/slide" Target="/ppt/slides/slide4.xml" Id="R1a318e46058346d7" /><Relationship Type="http://schemas.openxmlformats.org/officeDocument/2006/relationships/slide" Target="/ppt/slides/slide5.xml" Id="R29b712597dd14fdb" /><Relationship Type="http://schemas.openxmlformats.org/officeDocument/2006/relationships/slide" Target="/ppt/slides/slide6.xml" Id="R3ea8f5b935a04570" /><Relationship Type="http://schemas.openxmlformats.org/officeDocument/2006/relationships/slide" Target="/ppt/slides/slide7.xml" Id="Rb4a96a6865a04d75" /><Relationship Type="http://schemas.openxmlformats.org/officeDocument/2006/relationships/slide" Target="/ppt/slides/slide8.xml" Id="Rd8415f31d1c54c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dc139dbbdd4f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3deb53bb374748" /><Relationship Type="http://schemas.openxmlformats.org/officeDocument/2006/relationships/notesMaster" Target="/ppt/notesMasters/notesMaster1.xml" Id="R0f00498fa2a147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68e04cca9e40bc" /><Relationship Type="http://schemas.openxmlformats.org/officeDocument/2006/relationships/notesMaster" Target="/ppt/notesMasters/notesMaster1.xml" Id="Rb416a5f953bb4c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c5a926ad204847" /><Relationship Type="http://schemas.openxmlformats.org/officeDocument/2006/relationships/notesMaster" Target="/ppt/notesMasters/notesMaster1.xml" Id="R81c9dd01bfa047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4b22cef9654c4a" /><Relationship Type="http://schemas.openxmlformats.org/officeDocument/2006/relationships/notesMaster" Target="/ppt/notesMasters/notesMaster1.xml" Id="R62d8e6d0e85746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5f20b824f5428d" /><Relationship Type="http://schemas.openxmlformats.org/officeDocument/2006/relationships/notesMaster" Target="/ppt/notesMasters/notesMaster1.xml" Id="R5a853ec83b4e44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958f300cb0457b" /><Relationship Type="http://schemas.openxmlformats.org/officeDocument/2006/relationships/notesMaster" Target="/ppt/notesMasters/notesMaster1.xml" Id="R39eaf4afc88240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44d03218e04ef4" /><Relationship Type="http://schemas.openxmlformats.org/officeDocument/2006/relationships/notesMaster" Target="/ppt/notesMasters/notesMaster1.xml" Id="R42898568f3d24b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c320f7b464491f" /><Relationship Type="http://schemas.openxmlformats.org/officeDocument/2006/relationships/notesMaster" Target="/ppt/notesMasters/notesMaster1.xml" Id="Rd57c64f0505c42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продолжаем работу над Calorica, мобильным приложением для учёта питания,</a:t>
            </a:r>
          </a:p>
          <a:p xmlns:a="http://schemas.openxmlformats.org/drawingml/2006/main">
            <a:r>
              <a:t>калорий, белков, жиров и углеводов. На первом этапе мы выбрали тему и определили</a:t>
            </a:r>
          </a:p>
          <a:p xmlns:a="http://schemas.openxmlformats.org/drawingml/2006/main">
            <a:r>
              <a:t>пользователя. На втором уточнили, какие функции реализуем за семестр,</a:t>
            </a:r>
          </a:p>
          <a:p xmlns:a="http://schemas.openxmlformats.org/drawingml/2006/main">
            <a:r>
              <a:t>как будем рассчитывать показатели и по каким критериям проверим результат.</a:t>
            </a:r>
          </a:p>
          <a:p xmlns:a="http://schemas.openxmlformats.org/drawingml/2006/main">
            <a:r>
              <a:t>Эти решения собрали в техническое задание.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docs/semester-mvp/stage-2/technical-specification.md: назначение и границы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Android будут два раздела: продукты и дневник. Пользователь сможет войти,</a:t>
            </a:r>
          </a:p>
          <a:p xmlns:a="http://schemas.openxmlformats.org/drawingml/2006/main">
            <a:r>
              <a:t>найти продукт в каталоге примерно из пятидесяти позиций или создать свой,</a:t>
            </a:r>
          </a:p>
          <a:p xmlns:a="http://schemas.openxmlformats.org/drawingml/2006/main">
            <a:r>
              <a:t>составить блюдо и записать съеденную порцию. Дневник покажет калории и БЖУ</a:t>
            </a:r>
          </a:p>
          <a:p xmlns:a="http://schemas.openxmlformats.org/drawingml/2006/main">
            <a:r>
              <a:t>за выбранный день. Сервер будет выполнять расчёты и проверять права.</a:t>
            </a:r>
          </a:p>
          <a:p xmlns:a="http://schemas.openxmlformats.org/drawingml/2006/main">
            <a:r>
              <a:t>В его модели предусмотрены вложенные составы, коэффициенты выхода,</a:t>
            </a:r>
          </a:p>
          <a:p xmlns:a="http://schemas.openxmlformats.org/drawingml/2006/main">
            <a:r>
              <a:t>единицы измерения, лейблы и мягкое удаление.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docs/semester-mvp/stage-2/technical-specification.md: SM-01—SM-08, SB-01—SB-06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 ручном учёте человек сам ищет пищевую ценность, пересчитывает её на порцию</a:t>
            </a:r>
          </a:p>
          <a:p xmlns:a="http://schemas.openxmlformats.org/drawingml/2006/main">
            <a:r>
              <a:t>и суммирует записи. В Calorica он выберет продукт, укажет съеденные граммы,</a:t>
            </a:r>
          </a:p>
          <a:p xmlns:a="http://schemas.openxmlformats.org/drawingml/2006/main">
            <a:r>
              <a:t>время и лейблы приёма пищи. Сервер проверит данные и рассчитает итог дня.</a:t>
            </a:r>
          </a:p>
          <a:p xmlns:a="http://schemas.openxmlformats.org/drawingml/2006/main">
            <a:r>
              <a:t>Запись можно будет изменить или удалить. Показатели дневника будут зависеть</a:t>
            </a:r>
          </a:p>
          <a:p xmlns:a="http://schemas.openxmlformats.org/drawingml/2006/main">
            <a:r>
              <a:t>от актуальных карточек продуктов, поэтому правка ингредиента повлияет</a:t>
            </a:r>
          </a:p>
          <a:p xmlns:a="http://schemas.openxmlformats.org/drawingml/2006/main">
            <a:r>
              <a:t>и на прошлые записи.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docs/semester-mvp/stage-2/technical-specification.md: процессы, SM-06—SM-08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сохранили единую модель продуктов. Блюдо может включать другие блюда,</a:t>
            </a:r>
          </a:p>
          <a:p xmlns:a="http://schemas.openxmlformats.org/drawingml/2006/main">
            <a:r>
              <a:t>а один ингредиент может использоваться в нескольких составах. На схеме</a:t>
            </a:r>
          </a:p>
          <a:p xmlns:a="http://schemas.openxmlformats.org/drawingml/2006/main">
            <a:r>
              <a:t>огурец входит и в овощную смесь, и в соус. Стрелки указывают на ингредиенты,</a:t>
            </a:r>
          </a:p>
          <a:p xmlns:a="http://schemas.openxmlformats.org/drawingml/2006/main">
            <a:r>
              <a:t>проценты показывают доли по весу. В каждом составе они дают сто процентов.</a:t>
            </a:r>
          </a:p>
          <a:p xmlns:a="http://schemas.openxmlformats.org/drawingml/2006/main">
            <a:r>
              <a:t>Сервер отклонит состав, если цепочка ингредиентов вернётся к исходному блюду.</a:t>
            </a:r>
          </a:p>
          <a:p xmlns:a="http://schemas.openxmlformats.org/drawingml/2006/main">
            <a:r>
              <a:t>В карточке храним доли и коэффициенты.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docs/semester-mvp/stage-2/technical-specification.md: SB-01, SB-02; доли схемы условные, выход компонентов 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Мы отдельно проработали изменение массы при приготовлении. Например,</a:t>
            </a:r>
          </a:p>
          <a:p xmlns:a="http://schemas.openxmlformats.org/drawingml/2006/main">
            <a:r>
              <a:t>из килограмма ингредиентов получилось восемьсот граммов блюда.</a:t>
            </a:r>
          </a:p>
          <a:p xmlns:a="http://schemas.openxmlformats.org/drawingml/2006/main">
            <a:r>
              <a:t>Коэффициент выхода равен 0,8. Если в ингредиентах всего 1600 килокалорий,</a:t>
            </a:r>
          </a:p>
          <a:p xmlns:a="http://schemas.openxmlformats.org/drawingml/2006/main">
            <a:r>
              <a:t>в ста граммах готового блюда будет 200 килокалорий. Пользователь съел</a:t>
            </a:r>
          </a:p>
          <a:p xmlns:a="http://schemas.openxmlformats.org/drawingml/2006/main">
            <a:r>
              <a:t>двести граммов, поэтому в дневнике получит 400 килокалорий.</a:t>
            </a:r>
          </a:p>
          <a:p xmlns:a="http://schemas.openxmlformats.org/drawingml/2006/main">
            <a:r>
              <a:t>Можно настроить выход всего блюда или отдельных ингредиентов.</a:t>
            </a:r>
          </a:p>
          <a:p xmlns:a="http://schemas.openxmlformats.org/drawingml/2006/main">
            <a:r>
              <a:t>Без настройки коэффициент равен единице.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docs/semester-mvp/stage-2/technical-specification.md: SB-02, SB-03; числовой пример иллюстрирует общий выход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ТЗ мы определили требования к точности и сохранности данных.</a:t>
            </a:r>
          </a:p>
          <a:p xmlns:a="http://schemas.openxmlformats.org/drawingml/2006/main">
            <a:r>
              <a:t>Для расчётов используем десятичные числа, массу храним до тысячной грамма.</a:t>
            </a:r>
          </a:p>
          <a:p xmlns:a="http://schemas.openxmlformats.org/drawingml/2006/main">
            <a:r>
              <a:t>Изменения состава должны сохраняться одной транзакцией.</a:t>
            </a:r>
          </a:p>
          <a:p xmlns:a="http://schemas.openxmlformats.org/drawingml/2006/main">
            <a:r>
              <a:t>Доступ защищаем HTTPS и проверкой прав на сервере.</a:t>
            </a:r>
          </a:p>
          <a:p xmlns:a="http://schemas.openxmlformats.org/drawingml/2006/main">
            <a:r>
              <a:t>Для сетевых запросов задаём таймаут и понятное сообщение об ошибке.</a:t>
            </a:r>
          </a:p>
          <a:p xmlns:a="http://schemas.openxmlformats.org/drawingml/2006/main">
            <a:r>
              <a:t>Резервные копии проверяем восстановлением. Android и сервер получают</a:t>
            </a:r>
          </a:p>
          <a:p xmlns:a="http://schemas.openxmlformats.org/drawingml/2006/main">
            <a:r>
              <a:t>независимые выпуски с проверками перед развёртыванием.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docs/semester-mvp/stage-2/technical-specification.md: SN-01—SN-08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рассчитан на восемь недель и около двенадцати человеко-дней:</a:t>
            </a:r>
          </a:p>
          <a:p xmlns:a="http://schemas.openxmlformats.org/drawingml/2006/main">
            <a:r>
              <a:t>шесть участников по два дня работы с агентами. Восемь дней выделяем</a:t>
            </a:r>
          </a:p>
          <a:p xmlns:a="http://schemas.openxmlformats.org/drawingml/2006/main">
            <a:r>
              <a:t>на реализацию, четыре на исправления и сдачу.</a:t>
            </a:r>
          </a:p>
          <a:p xmlns:a="http://schemas.openxmlformats.org/drawingml/2006/main">
            <a:r>
              <a:t>Сначала готовим контракт и стенд, затем сквозной сценарий и домен.</a:t>
            </a:r>
          </a:p>
          <a:p xmlns:a="http://schemas.openxmlformats.org/drawingml/2006/main">
            <a:r>
              <a:t>После этого подключаем Android и выпуск. Шестую неделю отводим</a:t>
            </a:r>
          </a:p>
          <a:p xmlns:a="http://schemas.openxmlformats.org/drawingml/2006/main">
            <a:r>
              <a:t>на приёмку, последние две на исправления и сдачу.</a:t>
            </a:r>
          </a:p>
          <a:p xmlns:a="http://schemas.openxmlformats.org/drawingml/2006/main">
            <a:r>
              <a:t>Команда проверяет код и результаты работы агентов.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docs/semester-mvp/plan.md: бюджет 12 человеко-дней и восемь недель; это плановая оценка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 итогам второго этапа мы подготовили ТЗ в DOCX и PDF, план семестра</a:t>
            </a:r>
          </a:p>
          <a:p xmlns:a="http://schemas.openxmlformats.org/drawingml/2006/main">
            <a:r>
              <a:t>и семнадцать проверок приёмки. Пользовательские сценарии будем проверять</a:t>
            </a:r>
          </a:p>
          <a:p xmlns:a="http://schemas.openxmlformats.org/drawingml/2006/main">
            <a:r>
              <a:t>в Android, а сложные расчёты и права доступа через API.</a:t>
            </a:r>
          </a:p>
          <a:p xmlns:a="http://schemas.openxmlformats.org/drawingml/2006/main">
            <a:r>
              <a:t>Отдельно проверим установку, выпуск сервера и восстановление данных.</a:t>
            </a:r>
          </a:p>
          <a:p xmlns:a="http://schemas.openxmlformats.org/drawingml/2006/main">
            <a:r>
              <a:t>Для каждого пункта зафиксируем результат и подтверждение.</a:t>
            </a:r>
          </a:p>
          <a:p xmlns:a="http://schemas.openxmlformats.org/drawingml/2006/main">
            <a:r>
              <a:t>Так у команды есть понятный объём работы и критерии, по которым</a:t>
            </a:r>
          </a:p>
          <a:p xmlns:a="http://schemas.openxmlformats.org/drawingml/2006/main">
            <a:r>
              <a:t>можно оценить готовую реализацию.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Основание: docs/semester-mvp/acceptance.md: SA-01—SA-17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7faef35af24b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5672e5592d407e" /><Relationship Type="http://schemas.openxmlformats.org/officeDocument/2006/relationships/slideLayout" Target="/ppt/slideLayouts/slideLayout1.xml" Id="R94bd9278715047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bd9278715047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0801019954edb" /><Relationship Type="http://schemas.openxmlformats.org/officeDocument/2006/relationships/image" Target="/ppt/media/image.png" Id="Rf452fbb0333a40d8" /><Relationship Type="http://schemas.openxmlformats.org/officeDocument/2006/relationships/notesSlide" Target="/ppt/notesSlides/notesSlide1.xml" Id="R97af1424cadd44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f0f734d6d4340" /><Relationship Type="http://schemas.openxmlformats.org/officeDocument/2006/relationships/notesSlide" Target="/ppt/notesSlides/notesSlide2.xml" Id="Re67f604fdc5d43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e5be63d73465a" /><Relationship Type="http://schemas.openxmlformats.org/officeDocument/2006/relationships/notesSlide" Target="/ppt/notesSlides/notesSlide3.xml" Id="R960869a2d8ac45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e70222aeec4dd6" /><Relationship Type="http://schemas.openxmlformats.org/officeDocument/2006/relationships/image" Target="/ppt/media/image2.png" Id="Rb40b575f13524c8a" /><Relationship Type="http://schemas.openxmlformats.org/officeDocument/2006/relationships/image" Target="/ppt/media/image3.png" Id="R183235a45f39475b" /><Relationship Type="http://schemas.openxmlformats.org/officeDocument/2006/relationships/image" Target="/ppt/media/image4.png" Id="Rc69b50da08844b1a" /><Relationship Type="http://schemas.openxmlformats.org/officeDocument/2006/relationships/image" Target="/ppt/media/image5.png" Id="Rdb0eaad6bb11459f" /><Relationship Type="http://schemas.openxmlformats.org/officeDocument/2006/relationships/image" Target="/ppt/media/image6.png" Id="R8e867e3aefac4c82" /><Relationship Type="http://schemas.openxmlformats.org/officeDocument/2006/relationships/image" Target="/ppt/media/image7.png" Id="R84ea4eef98034af3" /><Relationship Type="http://schemas.openxmlformats.org/officeDocument/2006/relationships/notesSlide" Target="/ppt/notesSlides/notesSlide4.xml" Id="Rd2399d2db30c40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1c222ef3b4656" /><Relationship Type="http://schemas.openxmlformats.org/officeDocument/2006/relationships/notesSlide" Target="/ppt/notesSlides/notesSlide5.xml" Id="Ra2db57e4406648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222b66c054f8b" /><Relationship Type="http://schemas.openxmlformats.org/officeDocument/2006/relationships/notesSlide" Target="/ppt/notesSlides/notesSlide6.xml" Id="Rf04d1693879942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ab04786354fe5" /><Relationship Type="http://schemas.openxmlformats.org/officeDocument/2006/relationships/notesSlide" Target="/ppt/notesSlides/notesSlide7.xml" Id="R46725124ff844e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651de145f4064" /><Relationship Type="http://schemas.openxmlformats.org/officeDocument/2006/relationships/notesSlide" Target="/ppt/notesSlides/notesSlide8.xml" Id="Rcfd2079cc19c40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2fbb0333a40d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A12A2-B78D-4298-8B63-A956D86D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590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175DF-5BEB-4288-9601-01189A22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Calorica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90776-6448-44BD-8DBB-A8B04E5C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476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F7F3E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F7F3EA"/>
                </a:solidFill>
                <a:latin typeface="Helvetica Neue"/>
                <a:ea typeface="Helvetica Neue"/>
                <a:cs typeface="Helvetica Neue"/>
              </a:rPr>
              <a:t>Приложение для учёта питания,</a:t>
            </a:r>
          </a:p>
          <a:p xmlns:a="http://schemas.openxmlformats.org/drawingml/2006/main">
            <a:pPr>
              <a:buNone/>
              <a:defRPr sz="2175" b="1">
                <a:solidFill>
                  <a:srgbClr val="F7F3E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F7F3EA"/>
                </a:solidFill>
                <a:latin typeface="Helvetica Neue"/>
                <a:ea typeface="Helvetica Neue"/>
                <a:cs typeface="Helvetica Neue"/>
              </a:rPr>
              <a:t>калорий и БЖУ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2BA9B-A97B-4117-AAFB-E8D4EB36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4EC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E4ECD9"/>
                </a:solidFill>
                <a:latin typeface="Helvetica Neue"/>
                <a:ea typeface="Helvetica Neue"/>
                <a:cs typeface="Helvetica Neue"/>
              </a:rPr>
              <a:t>Этап 2 · требования и план семестра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93616-0573-47DD-B28A-7A2FEB57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E4ECD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E4ECD9"/>
                </a:solidFill>
                <a:latin typeface="Helvetica Neue"/>
                <a:ea typeface="Helvetica Neue"/>
                <a:cs typeface="Helvetica Neue"/>
              </a:rPr>
              <a:t>ИТМО · 2026</a:t>
            </a:r>
          </a:p>
        </p:txBody>
      </p:sp>
    </p:spTree>
    <p:extLst>
      <p:ext uri="{BB962C8B-B14F-4D97-AF65-F5344CB8AC3E}">
        <p14:creationId xmlns:p14="http://schemas.microsoft.com/office/powerpoint/2010/main" val="13399724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5373B-CA71-4385-8370-F09FA074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E8E3A-4C7A-44C9-9285-9914A87E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Объём семестровой версии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B43E4-4014-4098-B9B1-01CC6D2F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872C8-BE98-40EA-9E98-5DB19648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Два раздела Android: «Продукты» и «Дневник»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1C1C4-B31D-4A36-8237-A8A924B8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9AD48-F833-496D-805D-85265422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Аккаунт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F6811-9880-4965-A0F1-03291BA3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71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Email и пароль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C6C7D-51DE-47A7-A771-2BD75011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87987-8FAD-4545-93BD-353B3C88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Каталог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EB2A2-B657-4D22-AC9F-578D75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050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Около 50 продуктов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7F9F2-535D-47E7-8D56-97948E46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917E6-9573-4BBD-98B3-532E69F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Личный продукт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DB532D-18FE-4946-80A7-530B68AB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384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Создание и правка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AA0F4A-8618-4C8A-BA2A-4ECDC59D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A63A7-5305-4C34-B1F3-8E764DDF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Состав блюда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60E76-6C17-44CF-976E-B3D4537B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71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Доли и выход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EC3ED6-FAA7-49D6-9679-423CCF8A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4DB51-537D-49FC-9CC9-AC350B8A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Запись питания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350A2C-7FFC-4BF6-AD74-A6A93966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052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Граммы и время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2CC780-E5F0-44D7-A497-3E1F2F54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7CEF4A-BAC7-4D4C-914B-C229085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Итог дня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7486FC-D93D-4092-B5A7-32DA3B91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38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Калории и БЖУ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F9A36B-1DAC-4235-A014-F20D6C2E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E9B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53DC1A-F19A-4D41-BBCE-1EBB1A7A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907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Серверная часть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114AA4-9F44-4695-AB55-539B8067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66950"/>
            <a:ext cx="400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Правила и расчёты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EA2B32-983A-4A0D-A237-A3F2D968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67050"/>
            <a:ext cx="3619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Вложенные составы, выход блюда, права доступа и мягкое удаление.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296477-AFB2-44BE-A1DB-81C56497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71975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API: единицы измерения, лейблы и календарные сводки.</a:t>
            </a:r>
          </a:p>
        </p:txBody>
      </p:sp>
    </p:spTree>
    <p:extLst>
      <p:ext uri="{BB962C8B-B14F-4D97-AF65-F5344CB8AC3E}">
        <p14:creationId xmlns:p14="http://schemas.microsoft.com/office/powerpoint/2010/main" val="11510081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8C5FCD-3664-4A25-93D1-77A05F97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A2214-FCDA-434E-8B04-65FCC680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Процесс учёта питания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B3E48C-DAA2-40AC-A443-C99DEB18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2CF21-5CD5-4A6D-BA97-3EC07F50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Вместо ручного поиска, пересчёта порций и суммирования записей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E39F0-495F-4C15-92E4-07EC62A9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A30"/>
          </a:solidFill>
          <a:ln xmlns:a="http://schemas.openxmlformats.org/drawingml/2006/main" w="0">
            <a:solidFill>
              <a:srgbClr val="153A30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9131B-D604-49DD-A7B7-A2A337C0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Выбрать продукт</a:t>
            </a:r>
          </a:p>
          <a:p xmlns:a="http://schemas.openxmlformats.org/drawingml/2006/main">
            <a:pPr>
              <a:buNone/>
              <a:def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или блюдо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2F8BD-A645-4C1C-9242-DFA29E1F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14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Из каталога</a:t>
            </a:r>
          </a:p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или создать свой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AA7AC-5CD3-4819-B8BD-61B6C6C8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71725"/>
            <a:ext cx="1695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C5B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7C6CE-90B8-4E21-8D41-95AC2AA4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764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A30"/>
          </a:solidFill>
          <a:ln xmlns:a="http://schemas.openxmlformats.org/drawingml/2006/main" w="0">
            <a:solidFill>
              <a:srgbClr val="153A30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5323F8-F63B-4AFE-B130-C594C86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52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Указать</a:t>
            </a:r>
          </a:p>
          <a:p xmlns:a="http://schemas.openxmlformats.org/drawingml/2006/main">
            <a:pPr>
              <a:buNone/>
              <a:def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порцию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390187-9BC1-4166-8F4E-BB395BDB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95700"/>
            <a:ext cx="214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Граммы, время</a:t>
            </a:r>
          </a:p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и лейблы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077C2-E305-48F5-B1B8-A7CEE3F8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71725"/>
            <a:ext cx="1695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C5B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C351A-F7C6-4A0A-95FA-A72217B8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A30"/>
          </a:solidFill>
          <a:ln xmlns:a="http://schemas.openxmlformats.org/drawingml/2006/main" w="0">
            <a:solidFill>
              <a:srgbClr val="153A30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898C46-511A-458C-8887-FA339628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52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Сохранить
запись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514B2-F0C2-460D-836C-C20E0EA7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95700"/>
            <a:ext cx="214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Сервер проверяет</a:t>
            </a:r>
          </a:p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данные и права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2F63BB-1E6E-41F5-9F17-5A719980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71725"/>
            <a:ext cx="1695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C5B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FC08F8-F17C-45A3-8E7C-EFA0B80B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764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C14A8-93A5-4913-BA4A-9C5573DD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52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Посмотреть
итог дня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E390D1-168D-4E99-B3CE-81CE336D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95700"/>
            <a:ext cx="2143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Калории и БЖУ</a:t>
            </a:r>
          </a:p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за выбранную дату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63058-72F7-4119-A6DE-FDBCE87C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D8"/>
          </a:solidFill>
          <a:ln xmlns:a="http://schemas.openxmlformats.org/drawingml/2006/main" w="0">
            <a:solidFill>
              <a:srgbClr val="DCE6D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F0EB1-9F4F-4448-A5D5-9BB7EE2D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43500"/>
            <a:ext cx="1021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Пользователь может изменить или удалить запись. Сервер пересчитывает итог по актуальным карточкам продуктов.</a:t>
            </a:r>
          </a:p>
        </p:txBody>
      </p:sp>
    </p:spTree>
    <p:extLst>
      <p:ext uri="{BB962C8B-B14F-4D97-AF65-F5344CB8AC3E}">
        <p14:creationId xmlns:p14="http://schemas.microsoft.com/office/powerpoint/2010/main" val="615269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D50AA-31CB-4B76-AC7E-4A595117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844BA-BC1A-4230-8B49-17CBE32C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Продукты, блюда и их состав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D8BF1-EE41-4E7A-9D44-0EC66777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74C98-B6C2-47F2-92E0-73B3F4B8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Состав допускает вложенность и общие ингредиенты. Циклы запрещены.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87A78-BD72-46AE-85D7-0F235D5D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Расчёт по составу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0E4C0-A761-44F2-A46B-8FA9A503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62100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КБЖУ указаны вручную</a:t>
            </a:r>
          </a:p>
        </p:txBody>
      </p:sp>
      <p:sp>
        <p:nvSpPr>
          <p:cNvPr id="7" name="Салат с соусом">
            <a:extLst xmlns:a="http://schemas.openxmlformats.org/drawingml/2006/main">
              <a:ext uri="{FF2B5EF4-FFF2-40B4-BE49-F238E27FC236}">
                <a16:creationId xmlns:a16="http://schemas.microsoft.com/office/drawing/2014/main" id="{25E4927D-DE04-4C49-BC2A-4970A072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b575f13524c8a"/>
          <a:srcRect xmlns:a="http://schemas.openxmlformats.org/drawingml/2006/main" l="0" t="0" r="66667" b="5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5375" y="3105150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CAD86-5DE5-41A2-8F31-8C72E8E85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Салат с соусом</a:t>
            </a:r>
          </a:p>
        </p:txBody>
      </p:sp>
      <p:sp>
        <p:nvSpPr>
          <p:cNvPr id="10" name="Овощная смесь">
            <a:extLst xmlns:a="http://schemas.openxmlformats.org/drawingml/2006/main">
              <a:ext uri="{FF2B5EF4-FFF2-40B4-BE49-F238E27FC236}">
                <a16:creationId xmlns:a16="http://schemas.microsoft.com/office/drawing/2014/main" id="{1EC59F0D-EE54-482B-867C-24B4B4B7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238375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235a45f39475b"/>
          <a:srcRect xmlns:a="http://schemas.openxmlformats.org/drawingml/2006/main" l="33333" t="0" r="33333" b="5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0" y="2105025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7FAF6-C9E4-4F1E-BE33-A4FF3C28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Овощная смесь</a:t>
            </a:r>
          </a:p>
        </p:txBody>
      </p:sp>
      <p:sp>
        <p:nvSpPr>
          <p:cNvPr id="13" name="Йогуртовый соус">
            <a:extLst xmlns:a="http://schemas.openxmlformats.org/drawingml/2006/main">
              <a:ext uri="{FF2B5EF4-FFF2-40B4-BE49-F238E27FC236}">
                <a16:creationId xmlns:a16="http://schemas.microsoft.com/office/drawing/2014/main" id="{71A9B86A-35F7-4181-A1FC-F78651EB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4238625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b50da08844b1a"/>
          <a:srcRect xmlns:a="http://schemas.openxmlformats.org/drawingml/2006/main" l="66667" t="0" r="0" b="50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0" y="4105275"/>
            <a:ext cx="1143000" cy="1143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7DBA9-6901-44DB-BE29-A1B971CD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1492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Йогуртовый соус</a:t>
            </a:r>
          </a:p>
        </p:txBody>
      </p:sp>
      <p:sp>
        <p:nvSpPr>
          <p:cNvPr id="16" name="Помидор">
            <a:extLst xmlns:a="http://schemas.openxmlformats.org/drawingml/2006/main">
              <a:ext uri="{FF2B5EF4-FFF2-40B4-BE49-F238E27FC236}">
                <a16:creationId xmlns:a16="http://schemas.microsoft.com/office/drawing/2014/main" id="{CB98B43E-A2F5-4A1C-8F16-B0C4147D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0500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eaad6bb11459f"/>
          <a:srcRect xmlns:a="http://schemas.openxmlformats.org/drawingml/2006/main" l="0" t="50000" r="666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7425" y="19050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36F5D-05DD-4EE1-9B0D-8A8C0C0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57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Помидор</a:t>
            </a:r>
          </a:p>
        </p:txBody>
      </p:sp>
      <p:sp>
        <p:nvSpPr>
          <p:cNvPr id="19" name="Огурец">
            <a:extLst xmlns:a="http://schemas.openxmlformats.org/drawingml/2006/main">
              <a:ext uri="{FF2B5EF4-FFF2-40B4-BE49-F238E27FC236}">
                <a16:creationId xmlns:a16="http://schemas.microsoft.com/office/drawing/2014/main" id="{CDF7BB17-7DB2-4DC0-900A-ED4240BB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90875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0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67e3aefac4c82"/>
          <a:srcRect xmlns:a="http://schemas.openxmlformats.org/drawingml/2006/main" l="33333" t="50000" r="33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7425" y="3190875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6ED469-095D-438E-BD31-B151FDA5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433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Огурец</a:t>
            </a:r>
          </a:p>
        </p:txBody>
      </p:sp>
      <p:sp>
        <p:nvSpPr>
          <p:cNvPr id="22" name="Йогурт">
            <a:extLst xmlns:a="http://schemas.openxmlformats.org/drawingml/2006/main">
              <a:ext uri="{FF2B5EF4-FFF2-40B4-BE49-F238E27FC236}">
                <a16:creationId xmlns:a16="http://schemas.microsoft.com/office/drawing/2014/main" id="{5C084821-F6EF-4A43-9F86-90478224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76750"/>
            <a:ext cx="1428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a4eef98034af3"/>
          <a:srcRect xmlns:a="http://schemas.openxmlformats.org/drawingml/2006/main" l="66667" t="5000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7425" y="447675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26332C-E266-437F-B2E7-2E2BF223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4292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Йогурт</a:t>
            </a:r>
          </a:p>
        </p:txBody>
      </p:sp>
      <p:cxnSp>
        <p:nvCxnSpPr>
          <p:cNvPr id="107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2381250" y="2676525"/>
            <a:ext cx="261937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E9B83"/>
            </a:solidFill>
            <a:prstDash val="solid"/>
            <a:tailEnd type="triangl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A08EA1-B7ED-468A-A152-FACDB125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905125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80%</a:t>
            </a:r>
          </a:p>
        </p:txBody>
      </p:sp>
      <p:cxnSp>
        <p:nvCxnSpPr>
          <p:cNvPr id="109" name=""/>
          <p:cNvCxnSpPr>
            <a:stCxn xmlns:a="http://schemas.openxmlformats.org/drawingml/2006/main" id="7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381250" y="3676650"/>
            <a:ext cx="261937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E9B83"/>
            </a:solidFill>
            <a:prstDash val="solid"/>
            <a:tailEnd type="triangle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3B80D8-B193-4B9E-9028-53E98F49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162425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20%</a:t>
            </a:r>
          </a:p>
        </p:txBody>
      </p:sp>
      <p:cxnSp>
        <p:nvCxnSpPr>
          <p:cNvPr id="111" name=""/>
          <p:cNvCxnSpPr>
            <a:stCxn xmlns:a="http://schemas.openxmlformats.org/drawingml/2006/main" id="10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 flipV="1">
            <a:off x="6429375" y="2343150"/>
            <a:ext cx="3190875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E9B83"/>
            </a:solidFill>
            <a:prstDash val="solid"/>
            <a:tailEnd type="triangle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4DEF2A-7F13-4C3C-9294-FF84347E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38375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50%</a:t>
            </a:r>
          </a:p>
        </p:txBody>
      </p:sp>
      <p:cxnSp>
        <p:nvCxnSpPr>
          <p:cNvPr id="113" name=""/>
          <p:cNvCxnSpPr>
            <a:stCxn xmlns:a="http://schemas.openxmlformats.org/drawingml/2006/main" id="10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429375" y="2676525"/>
            <a:ext cx="3190875" cy="9525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E9B83"/>
            </a:solidFill>
            <a:prstDash val="solid"/>
            <a:tailEnd type="triangle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5CA1E3-3BE5-4D80-8C27-F19C84D0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95625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50%</a:t>
            </a:r>
          </a:p>
        </p:txBody>
      </p:sp>
      <p:cxnSp>
        <p:nvCxnSpPr>
          <p:cNvPr id="115" name=""/>
          <p:cNvCxnSpPr>
            <a:stCxn xmlns:a="http://schemas.openxmlformats.org/drawingml/2006/main" id="13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6429375" y="3629025"/>
            <a:ext cx="3190875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E9B83"/>
            </a:solidFill>
            <a:prstDash val="solid"/>
            <a:tailEnd type="triangle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DA0FEA-764E-40CD-9724-7B94506B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95750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20%</a:t>
            </a:r>
          </a:p>
        </p:txBody>
      </p:sp>
      <p:cxnSp>
        <p:nvCxnSpPr>
          <p:cNvPr id="117" name=""/>
          <p:cNvCxnSpPr>
            <a:stCxn xmlns:a="http://schemas.openxmlformats.org/drawingml/2006/main" id="13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6429375" y="4676775"/>
            <a:ext cx="3190875" cy="238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E9B83"/>
            </a:solidFill>
            <a:prstDash val="solid"/>
            <a:tailEnd type="triangle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BC5494-5962-4932-9F7B-4B0035E7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14875"/>
            <a:ext cx="628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80%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82A591-2357-498C-9744-7B8A1459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Стрелка указывает на ингредиент</a:t>
            </a:r>
          </a:p>
          <a:p xmlns:a="http://schemas.openxmlformats.org/drawingml/2006/main">
            <a:pPr>
              <a:buNone/>
              <a:def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Доли по весу в сумме дают 100%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026D28-85DF-4D06-9C29-46ACDC1E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КБЖУ по данным ингредиентов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F46E8D-02DD-4D20-AE36-174E9C5E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D47480-51C0-4A17-A9BF-3EF4B245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Цепочка ингредиентов не должна возвращаться к исходному блюду. Доли условные.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2A197F-8CE4-4B72-AEB4-8D13B136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В составе храним доли и коэффициенты. КБЖУ считаем по актуальным карточкам.</a:t>
            </a:r>
          </a:p>
        </p:txBody>
      </p:sp>
    </p:spTree>
    <p:extLst>
      <p:ext uri="{BB962C8B-B14F-4D97-AF65-F5344CB8AC3E}">
        <p14:creationId xmlns:p14="http://schemas.microsoft.com/office/powerpoint/2010/main" val="11292704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B253A4-FFF3-49B9-A2CB-634D7D3E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94696-21B6-4BB1-8B9A-E0612803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Выход блюда и масса порции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30CC1-0D4A-4F43-9583-7AF05103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8F21D-E15E-40C3-8C81-2D319223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76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Пример: в ингредиентах всего 1600 ккал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491A13-8B7A-4F52-A593-5E3CD692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Приготовление и съеденная порция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266C5-91FA-49E5-9A85-B94FCD12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1828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53A30"/>
          </a:solidFill>
          <a:ln xmlns:a="http://schemas.openxmlformats.org/drawingml/2006/main" w="0">
            <a:solidFill>
              <a:srgbClr val="153A30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1000 г</a:t>
            </a:r>
          </a:p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ингредиентов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CBE95-E62C-4BB2-B7D7-B4704E01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90800"/>
            <a:ext cx="742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E9B83"/>
          </a:solidFill>
          <a:ln xmlns:a="http://schemas.openxmlformats.org/drawingml/2006/main" w="0">
            <a:solidFill>
              <a:srgbClr val="7E9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05913-C804-4FA5-8704-DE5C7DF1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1828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7E9B83"/>
          </a:solidFill>
          <a:ln xmlns:a="http://schemas.openxmlformats.org/drawingml/2006/main" w="0">
            <a:solidFill>
              <a:srgbClr val="7E9B83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800 г</a:t>
            </a:r>
          </a:p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готового блюда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96929D-4F08-468A-AAE5-32852AD2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590800"/>
            <a:ext cx="742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E9B83"/>
          </a:solidFill>
          <a:ln xmlns:a="http://schemas.openxmlformats.org/drawingml/2006/main" w="0">
            <a:solidFill>
              <a:srgbClr val="7E9B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F46AE1-2D09-4AC4-8DB0-4CDB82F1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1828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53A30"/>
          </a:solidFill>
          <a:ln xmlns:a="http://schemas.openxmlformats.org/drawingml/2006/main" w="0">
            <a:solidFill>
              <a:srgbClr val="153A30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200 г</a:t>
            </a:r>
          </a:p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съедено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41209-55BC-4FC7-89F2-08B4F19D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800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Выход: 800 / 1000 = 0,8. В 100 г готового блюда 200 ккал.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D459D-5635-4C27-B96B-C7A40B52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E9B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12164-F76C-4647-AE35-3FB5F389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097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В дневнике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B61CB-52B1-4C23-941C-5620AF90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24100"/>
            <a:ext cx="1809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200 г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400 ккал</a:t>
            </a:r>
          </a:p>
          <a:p xmlns:a="http://schemas.openxmlformats.org/drawingml/2006/main">
            <a:pPr marL="228600" indent="-114300">
              <a:spcAft>
                <a:spcPts val="800"/>
              </a:spcAft>
              <a:buChar char="•"/>
              <a:defRPr sz="135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Дата, время и лейблы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C472F-A592-4A19-B5BB-BFAE2FD7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В карточке храним доли и коэффициенты.
Съеденные граммы относятся к записи питания.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AAC012-B95F-4C00-A628-DF7CFBE8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857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Можно задать выход всего блюда или отдельных ингредиентов.
Без настройки выход равен 1.</a:t>
            </a:r>
          </a:p>
        </p:txBody>
      </p:sp>
    </p:spTree>
    <p:extLst>
      <p:ext uri="{BB962C8B-B14F-4D97-AF65-F5344CB8AC3E}">
        <p14:creationId xmlns:p14="http://schemas.microsoft.com/office/powerpoint/2010/main" val="16669243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14520-727B-4C48-B718-4B86B2BF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13AEA-3D8D-4E31-BA6D-77727E5D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Требования к качеству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D1795-6398-4EFB-8E15-97EBFDCE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928E29-89CC-47A8-974F-39C158DF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Расчёты и данные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4C04EB-3F07-4F6F-AE2A-24A4990F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667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Десятичные расчёты.
Точные доли состава.
Масса до 0,001 г.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E898B5-D2C2-402F-A1C9-A7F0ED6E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4476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Записи переживают перезапуск. Копии ежедневно и перед миграциями, с проверкой восстановления.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80EE5-0988-43FF-86F7-1CE5296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504950"/>
            <a:ext cx="0" cy="3524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E9B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FBC88-4C26-4DC5-B84B-20ABCF5A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85900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Безопасность и удобство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66BFA-E606-4D75-9099-E6C566F9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8350"/>
            <a:ext cx="447675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300"/>
              </a:spcAft>
              <a:buChar char="•"/>
              <a:defRPr sz="180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HTTPS, защищённые сессии и проверка прав на сервере.</a:t>
            </a:r>
          </a:p>
          <a:p xmlns:a="http://schemas.openxmlformats.org/drawingml/2006/main">
            <a:pPr marL="228600" indent="-114300">
              <a:spcAft>
                <a:spcPts val="1300"/>
              </a:spcAft>
              <a:buChar char="•"/>
              <a:defRPr sz="180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Ошибка сети видна пользователю. Таймаут запроса 10 секунд.</a:t>
            </a:r>
          </a:p>
          <a:p xmlns:a="http://schemas.openxmlformats.org/drawingml/2006/main">
            <a:pPr marL="228600" indent="-114300">
              <a:spcAft>
                <a:spcPts val="1300"/>
              </a:spcAft>
              <a:buChar char="•"/>
              <a:defRPr sz="180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Android 8+ (API 26), русский интерфейс и элементы от 48 dp.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E0CE3-82B4-43EB-8D2C-090A4028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95825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Независимые выпуски Android и сервера. Проверки перед автоматическим деплоем.</a:t>
            </a:r>
          </a:p>
        </p:txBody>
      </p:sp>
      <p:sp>
        <p:nvSpPr>
          <p:cNvPr id="12" name="agreed-stack">
            <a:extLst xmlns:a="http://schemas.openxmlformats.org/drawingml/2006/main">
              <a:ext uri="{FF2B5EF4-FFF2-40B4-BE49-F238E27FC236}">
                <a16:creationId xmlns:a16="http://schemas.microsoft.com/office/drawing/2014/main" id="{6711364F-8B3C-47EF-918C-7816889B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Android: Kotlin / Compose. Сервер: Kotlin / Spring Boot, Spring JDBC.</a:t>
            </a:r>
          </a:p>
          <a:p xmlns:a="http://schemas.openxmlformats.org/drawingml/2006/main">
            <a:pPr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База данных: PostgreSQL и миграции Liquibase. Код в одном репозитории.</a:t>
            </a:r>
          </a:p>
        </p:txBody>
      </p:sp>
    </p:spTree>
    <p:extLst>
      <p:ext uri="{BB962C8B-B14F-4D97-AF65-F5344CB8AC3E}">
        <p14:creationId xmlns:p14="http://schemas.microsoft.com/office/powerpoint/2010/main" val="5498717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5373B-CA71-4385-8370-F09FA074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E8E3A-4C7A-44C9-9285-9914A87E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План на два месяца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B43E4-4014-4098-B9B1-01CC6D2F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872C8-BE98-40EA-9E98-5DB19648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Контрольные точки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1C1C4-B31D-4A36-8237-A8A924B8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9AD48-F833-496D-805D-85265422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Неделя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F6811-9880-4965-A0F1-03291BA3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71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Контракт и стенд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C6C7D-51DE-47A7-A771-2BD75011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87987-8FAD-4545-93BD-353B3C88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Недели 2–3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EB2A2-B657-4D22-AC9F-578D75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050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Сценарий и домен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7F9F2-535D-47E7-8D56-97948E46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917E6-9573-4BBD-98B3-532E69F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Недели 4–5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DB532D-18FE-4946-80A7-530B68AB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384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Android и выпуск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AA0F4A-8618-4C8A-BA2A-4ECDC59D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1A63A7-5305-4C34-B1F3-8E764DDF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Неделя 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60E76-6C17-44CF-976E-B3D4537B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718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Приёмка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EC3ED6-FAA7-49D6-9679-423CCF8A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4DB51-537D-49FC-9CC9-AC350B8A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Неделя 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350A2C-7FFC-4BF6-AD74-A6A93966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052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Исправления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2CC780-E5F0-44D7-A497-3E1F2F54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5"/>
          </a:solidFill>
          <a:ln xmlns:a="http://schemas.openxmlformats.org/drawingml/2006/main" w="0">
            <a:solidFill>
              <a:srgbClr val="B8C5B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7CEF4A-BAC7-4D4C-914B-C229085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Неделя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7486FC-D93D-4092-B5A7-32DA3B91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386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Сдача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F9A36B-1DAC-4235-A014-F20D6C2E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E9B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53DC1A-F19A-4D41-BBCE-1EBB1A7A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907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Плановый бюджет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114AA4-9F44-4695-AB55-539B8067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66950"/>
            <a:ext cx="352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53A30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EA2B32-983A-4A0D-A237-A3F2D968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48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7352B"/>
                </a:solidFill>
                <a:latin typeface="Helvetica Neue"/>
                <a:ea typeface="Helvetica Neue"/>
                <a:cs typeface="Helvetica Neue"/>
              </a:rPr>
              <a:t>человеко-дней
6 участников по 2 дня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296477-AFB2-44BE-A1DB-81C56497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57675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8 дней на реализацию
4 дня на исправления и сдачу</a:t>
            </a:r>
          </a:p>
        </p:txBody>
      </p:sp>
      <p:sp>
        <p:nvSpPr>
          <p:cNvPr id="29" name="agent-work">
            <a:extLst xmlns:a="http://schemas.openxmlformats.org/drawingml/2006/main">
              <a:ext uri="{FF2B5EF4-FFF2-40B4-BE49-F238E27FC236}">
                <a16:creationId xmlns:a16="http://schemas.microsoft.com/office/drawing/2014/main" id="{F3C2F58D-CABA-4D05-8C3A-277504B8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E7066"/>
                </a:solidFill>
                <a:latin typeface="Helvetica Neue"/>
                <a:ea typeface="Helvetica Neue"/>
                <a:cs typeface="Helvetica Neue"/>
              </a:rPr>
              <a:t>Агенты выполняют задачи по общему контракту. Команда проверяет код и результат.</a:t>
            </a:r>
          </a:p>
        </p:txBody>
      </p:sp>
    </p:spTree>
    <p:extLst>
      <p:ext uri="{BB962C8B-B14F-4D97-AF65-F5344CB8AC3E}">
        <p14:creationId xmlns:p14="http://schemas.microsoft.com/office/powerpoint/2010/main" val="11510081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53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71A42-4E9B-444E-8D1E-5E1D2744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533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8461"/>
          </a:solidFill>
          <a:ln xmlns:a="http://schemas.openxmlformats.org/drawingml/2006/main" w="0">
            <a:solidFill>
              <a:srgbClr val="D78461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C0858-9AFD-47AB-86FA-EBBF237C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Приёмка и итоги второго этапа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09B13-B04A-4D6F-959C-F233FDE1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rPr>
              <a:t>Подготовили ТЗ в DOCX/PDF, план семестра и 17 проверок приёмки.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02F24-D4D4-4AE0-B766-B91CCAC1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4D593-0DEE-4F3D-A900-D1E6DCEE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4100"/>
            <a:ext cx="3000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Сценарии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49B58-3B57-452A-9EB8-DC47FFB5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52675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rPr>
              <a:t>Вход, каталог, состав, запись питания и дневной итог.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2C83E-185C-4FE9-A498-7CCFF381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154"/>
          </a:solidFill>
          <a:ln xmlns:a="http://schemas.openxmlformats.org/drawingml/2006/main" w="0">
            <a:solidFill>
              <a:srgbClr val="41615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D25886-7437-450F-A03E-D85703CB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A1D0C-9736-4FB6-8407-F41E9BBA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71850"/>
            <a:ext cx="3000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Расчёты и права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136D7-B64C-4A58-9AA7-97A86C76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00425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rPr>
              <a:t>Контрольные числа, запрет циклов, изоляция пользователей и сохранение истории.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1E70F8-684A-4704-A10C-88ACEDCB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154"/>
          </a:solidFill>
          <a:ln xmlns:a="http://schemas.openxmlformats.org/drawingml/2006/main" w="0">
            <a:solidFill>
              <a:srgbClr val="41615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5926B-7877-4648-ABE0-CD1E2174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78461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80EB29-5CC6-40E4-BFCB-02A4DA40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3000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Выпуск и данные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9B6A2-EB4E-4978-834A-724AA31C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48175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rPr>
              <a:t>Подписанный APK, сервер, миграции, восстановление резервной копии.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E3F2B-649F-4806-882A-CDDF8648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Пользовательские сценарии проверяем в Android.
Доменные правила подтверждаем через API.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081A68-94FF-4FC1-8222-38960A7D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DCE6D8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53485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2026-10-08T18:39:26.0820000Z</dcterms:created>
  <dcterms:modified xsi:type="dcterms:W3CDTF">2026-10-08T18:39:26.0820000Z</dcterms:modified>
</coreProperties>
</file>