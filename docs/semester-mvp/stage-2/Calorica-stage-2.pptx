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258562d37940fc" /><Relationship Type="http://schemas.openxmlformats.org/officeDocument/2006/relationships/extended-properties" Target="/docProps/app.xml" Id="Rada6e2a7842c4a74" /><Relationship Type="http://schemas.openxmlformats.org/officeDocument/2006/relationships/officeDocument" Target="/ppt/presentation.xml" Id="Rca7924c3376348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095696820a4312"/>
  </p:sldMasterIdLst>
  <p:notesMasterIdLst>
    <p:notesMasterId xmlns:r="http://schemas.openxmlformats.org/officeDocument/2006/relationships" r:id="R75aeab2130484894"/>
  </p:notesMasterIdLst>
  <p:sldIdLst>
    <p:sldId xmlns:r="http://schemas.openxmlformats.org/officeDocument/2006/relationships" id="256" r:id="Rea6b2fcfbb5048da"/>
    <p:sldId xmlns:r="http://schemas.openxmlformats.org/officeDocument/2006/relationships" id="257" r:id="Rd50df6c010284c28"/>
    <p:sldId xmlns:r="http://schemas.openxmlformats.org/officeDocument/2006/relationships" id="258" r:id="R077c64b74903423c"/>
    <p:sldId xmlns:r="http://schemas.openxmlformats.org/officeDocument/2006/relationships" id="259" r:id="R75845d41179f42b1"/>
    <p:sldId xmlns:r="http://schemas.openxmlformats.org/officeDocument/2006/relationships" id="260" r:id="R2898d71b57a24acc"/>
    <p:sldId xmlns:r="http://schemas.openxmlformats.org/officeDocument/2006/relationships" id="261" r:id="R12b08f3e9f0141bd"/>
    <p:sldId xmlns:r="http://schemas.openxmlformats.org/officeDocument/2006/relationships" id="262" r:id="Rdf55440838d74a38"/>
    <p:sldId xmlns:r="http://schemas.openxmlformats.org/officeDocument/2006/relationships" id="263" r:id="R2bbc208b966e4a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4ab537a0ac4c5d" /><Relationship Type="http://schemas.openxmlformats.org/officeDocument/2006/relationships/slideMaster" Target="/ppt/slideMasters/slideMaster1.xml" Id="R34095696820a4312" /><Relationship Type="http://schemas.openxmlformats.org/officeDocument/2006/relationships/notesMaster" Target="/ppt/notesMasters/notesMaster1.xml" Id="R75aeab2130484894" /><Relationship Type="http://schemas.openxmlformats.org/officeDocument/2006/relationships/presProps" Target="/ppt/presProps.xml" Id="R6860be1a735c435f" /><Relationship Type="http://schemas.openxmlformats.org/officeDocument/2006/relationships/tableStyles" Target="/ppt/tableStyles.xml" Id="Rb5496b6434e74da0" /><Relationship Type="http://schemas.openxmlformats.org/officeDocument/2006/relationships/slide" Target="/ppt/slides/slide1.xml" Id="Rea6b2fcfbb5048da" /><Relationship Type="http://schemas.openxmlformats.org/officeDocument/2006/relationships/slide" Target="/ppt/slides/slide2.xml" Id="Rd50df6c010284c28" /><Relationship Type="http://schemas.openxmlformats.org/officeDocument/2006/relationships/slide" Target="/ppt/slides/slide3.xml" Id="R077c64b74903423c" /><Relationship Type="http://schemas.openxmlformats.org/officeDocument/2006/relationships/slide" Target="/ppt/slides/slide4.xml" Id="R75845d41179f42b1" /><Relationship Type="http://schemas.openxmlformats.org/officeDocument/2006/relationships/slide" Target="/ppt/slides/slide5.xml" Id="R2898d71b57a24acc" /><Relationship Type="http://schemas.openxmlformats.org/officeDocument/2006/relationships/slide" Target="/ppt/slides/slide6.xml" Id="R12b08f3e9f0141bd" /><Relationship Type="http://schemas.openxmlformats.org/officeDocument/2006/relationships/slide" Target="/ppt/slides/slide7.xml" Id="Rdf55440838d74a38" /><Relationship Type="http://schemas.openxmlformats.org/officeDocument/2006/relationships/slide" Target="/ppt/slides/slide8.xml" Id="R2bbc208b966e4a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dab912169d44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29469c806f478e" /><Relationship Type="http://schemas.openxmlformats.org/officeDocument/2006/relationships/notesMaster" Target="/ppt/notesMasters/notesMaster1.xml" Id="R5069396b23bf4f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d355342a044287" /><Relationship Type="http://schemas.openxmlformats.org/officeDocument/2006/relationships/notesMaster" Target="/ppt/notesMasters/notesMaster1.xml" Id="R79fbf0beeecc41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e6dc5f2a664b91" /><Relationship Type="http://schemas.openxmlformats.org/officeDocument/2006/relationships/notesMaster" Target="/ppt/notesMasters/notesMaster1.xml" Id="R32c0cd7aa57c49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46c92268564005" /><Relationship Type="http://schemas.openxmlformats.org/officeDocument/2006/relationships/notesMaster" Target="/ppt/notesMasters/notesMaster1.xml" Id="R6684629798694e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6ece16f5ae48c7" /><Relationship Type="http://schemas.openxmlformats.org/officeDocument/2006/relationships/notesMaster" Target="/ppt/notesMasters/notesMaster1.xml" Id="R56ae20e49aed4c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b11c2f8f9940ab" /><Relationship Type="http://schemas.openxmlformats.org/officeDocument/2006/relationships/notesMaster" Target="/ppt/notesMasters/notesMaster1.xml" Id="R3ce8c2644d1c4a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660f828b5f4ea1" /><Relationship Type="http://schemas.openxmlformats.org/officeDocument/2006/relationships/notesMaster" Target="/ppt/notesMasters/notesMaster1.xml" Id="R761aa750d4c444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ffbb358a57426a" /><Relationship Type="http://schemas.openxmlformats.org/officeDocument/2006/relationships/notesMaster" Target="/ppt/notesMasters/notesMaster1.xml" Id="R7034ae3e4f0c43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продолжаем работу над Calorica, мобильным приложением для учёта питания,</a:t>
            </a:r>
          </a:p>
          <a:p xmlns:a="http://schemas.openxmlformats.org/drawingml/2006/main">
            <a:r>
              <a:t>калорий, белков, жиров и углеводов. На первом этапе мы выбрали тему и определили</a:t>
            </a:r>
          </a:p>
          <a:p xmlns:a="http://schemas.openxmlformats.org/drawingml/2006/main">
            <a:r>
              <a:t>пользователя. На втором уточнили, какие функции реализуем за семестр,</a:t>
            </a:r>
          </a:p>
          <a:p xmlns:a="http://schemas.openxmlformats.org/drawingml/2006/main">
            <a:r>
              <a:t>как будем рассчитывать показатели и по каким критериям проверим результат.</a:t>
            </a:r>
          </a:p>
          <a:p xmlns:a="http://schemas.openxmlformats.org/drawingml/2006/main">
            <a:r>
              <a:t>Эти решения собрали в техническое задание.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ТЗ семестрового MVP: назначение и границы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Android будут два раздела: продукты и дневник. Пользователь сможет войти,</a:t>
            </a:r>
          </a:p>
          <a:p xmlns:a="http://schemas.openxmlformats.org/drawingml/2006/main">
            <a:r>
              <a:t>найти продукт в каталоге примерно из пятидесяти позиций или создать свой,</a:t>
            </a:r>
          </a:p>
          <a:p xmlns:a="http://schemas.openxmlformats.org/drawingml/2006/main">
            <a:r>
              <a:t>составить блюдо и записать съеденную порцию. Дневник покажет калории и БЖУ</a:t>
            </a:r>
          </a:p>
          <a:p xmlns:a="http://schemas.openxmlformats.org/drawingml/2006/main">
            <a:r>
              <a:t>за выбранный день. Сервер будет выполнять расчёты и проверять права.</a:t>
            </a:r>
          </a:p>
          <a:p xmlns:a="http://schemas.openxmlformats.org/drawingml/2006/main">
            <a:r>
              <a:t>В его модели предусмотрены вложенные составы, коэффициенты выхода,</a:t>
            </a:r>
          </a:p>
          <a:p xmlns:a="http://schemas.openxmlformats.org/drawingml/2006/main">
            <a:r>
              <a:t>единицы измерения, лейблы и мягкое удаление.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ТЗ семестрового MVP: SM-01—SM-08 и SB-01—SB-06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 ручном учёте человек сам ищет пищевую ценность, пересчитывает её на порцию</a:t>
            </a:r>
          </a:p>
          <a:p xmlns:a="http://schemas.openxmlformats.org/drawingml/2006/main">
            <a:r>
              <a:t>и суммирует записи. В Calorica он выберет продукт, укажет съеденные граммы,</a:t>
            </a:r>
          </a:p>
          <a:p xmlns:a="http://schemas.openxmlformats.org/drawingml/2006/main">
            <a:r>
              <a:t>время и лейблы приёма пищи. Сервер проверит данные и рассчитает итог дня.</a:t>
            </a:r>
          </a:p>
          <a:p xmlns:a="http://schemas.openxmlformats.org/drawingml/2006/main">
            <a:r>
              <a:t>Запись можно будет изменить или удалить. Показатели дневника будут зависеть</a:t>
            </a:r>
          </a:p>
          <a:p xmlns:a="http://schemas.openxmlformats.org/drawingml/2006/main">
            <a:r>
              <a:t>от актуальных карточек продуктов, поэтому правка ингредиента повлияет</a:t>
            </a:r>
          </a:p>
          <a:p xmlns:a="http://schemas.openxmlformats.org/drawingml/2006/main">
            <a:r>
              <a:t>и на прошлые записи.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ТЗ семестрового MVP: процессы и SM-06—SM-08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втором этапе мы уточнили, какие данные сохранять. Карточки продуктов</a:t>
            </a:r>
          </a:p>
          <a:p xmlns:a="http://schemas.openxmlformats.org/drawingml/2006/main">
            <a:r>
              <a:t>связываем отдельными записями состава. В каждой связи есть блюдо, ингредиент,</a:t>
            </a:r>
          </a:p>
          <a:p xmlns:a="http://schemas.openxmlformats.org/drawingml/2006/main">
            <a:r>
              <a:t>его исходная доля и необязательный коэффициент выхода.</a:t>
            </a:r>
          </a:p>
          <a:p xmlns:a="http://schemas.openxmlformats.org/drawingml/2006/main">
            <a:r>
              <a:t>Сервер принимает граммы или проценты и преобразует их в доли.</a:t>
            </a:r>
          </a:p>
          <a:p xmlns:a="http://schemas.openxmlformats.org/drawingml/2006/main">
            <a:r>
              <a:t>Массы рецепта нужны для ввода и расчёта, а в базе сохраняем доли и коэффициенты.</a:t>
            </a:r>
          </a:p>
          <a:p xmlns:a="http://schemas.openxmlformats.org/drawingml/2006/main">
            <a:r>
              <a:t>КБЖУ вычисляем по актуальным карточкам. Съеденные граммы храним в дневнике.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ТЗ семестрового MVP: SB-01—SB-03. Общий выход применяется, когда не задан выход на связях. 1 : N означает несколько связей у одного продукта.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отдельно проработали изменение массы при приготовлении. Например,</a:t>
            </a:r>
          </a:p>
          <a:p xmlns:a="http://schemas.openxmlformats.org/drawingml/2006/main">
            <a:r>
              <a:t>из килограмма ингредиентов получилось восемьсот граммов блюда.</a:t>
            </a:r>
          </a:p>
          <a:p xmlns:a="http://schemas.openxmlformats.org/drawingml/2006/main">
            <a:r>
              <a:t>Коэффициент выхода равен 0,8. Если в ингредиентах всего 1600 килокалорий,</a:t>
            </a:r>
          </a:p>
          <a:p xmlns:a="http://schemas.openxmlformats.org/drawingml/2006/main">
            <a:r>
              <a:t>в ста граммах готового блюда будет 200 килокалорий. Пользователь съел</a:t>
            </a:r>
          </a:p>
          <a:p xmlns:a="http://schemas.openxmlformats.org/drawingml/2006/main">
            <a:r>
              <a:t>двести граммов, поэтому в дневнике получит 400 килокалорий.</a:t>
            </a:r>
          </a:p>
          <a:p xmlns:a="http://schemas.openxmlformats.org/drawingml/2006/main">
            <a:r>
              <a:t>Можно настроить выход всего блюда или отдельных ингредиентов.</a:t>
            </a:r>
          </a:p>
          <a:p xmlns:a="http://schemas.openxmlformats.org/drawingml/2006/main">
            <a:r>
              <a:t>Без настройки коэффициент равен единице.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ТЗ семестрового MVP: SB-02 и SB-03. Пример общего выхода: 1000 г, 1600 ккал, выход 0,8, готовая порция 200 г даёт 400 ккал.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ТЗ мы определили требования к точности и сохранности данных.</a:t>
            </a:r>
          </a:p>
          <a:p xmlns:a="http://schemas.openxmlformats.org/drawingml/2006/main">
            <a:r>
              <a:t>Для расчётов используем десятичные числа, массу храним до тысячной грамма.</a:t>
            </a:r>
          </a:p>
          <a:p xmlns:a="http://schemas.openxmlformats.org/drawingml/2006/main">
            <a:r>
              <a:t>Изменения состава должны сохраняться одной транзакцией.</a:t>
            </a:r>
          </a:p>
          <a:p xmlns:a="http://schemas.openxmlformats.org/drawingml/2006/main">
            <a:r>
              <a:t>Доступ защищаем HTTPS и проверкой прав на сервере.</a:t>
            </a:r>
          </a:p>
          <a:p xmlns:a="http://schemas.openxmlformats.org/drawingml/2006/main">
            <a:r>
              <a:t>Для сетевых запросов задаём таймаут и понятное сообщение об ошибке.</a:t>
            </a:r>
          </a:p>
          <a:p xmlns:a="http://schemas.openxmlformats.org/drawingml/2006/main">
            <a:r>
              <a:t>Резервные копии проверяем восстановлением. Android и сервер получают</a:t>
            </a:r>
          </a:p>
          <a:p xmlns:a="http://schemas.openxmlformats.org/drawingml/2006/main">
            <a:r>
              <a:t>независимые выпуски с проверками перед развёртыванием.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ТЗ семестрового MVP: SN-01—SN-08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Работу организуем по проверяемым результатам. Сначала готовим контракт</a:t>
            </a:r>
          </a:p>
          <a:p xmlns:a="http://schemas.openxmlformats.org/drawingml/2006/main">
            <a:r>
              <a:t>и каркас, затем каталог и расчётный домен. После этого подключаем Android</a:t>
            </a:r>
          </a:p>
          <a:p xmlns:a="http://schemas.openxmlformats.org/drawingml/2006/main">
            <a:r>
              <a:t>и проверяем сквозные сценарии. Для выпуска нужны работающие проверки,</a:t>
            </a:r>
          </a:p>
          <a:p xmlns:a="http://schemas.openxmlformats.org/drawingml/2006/main">
            <a:r>
              <a:t>миграции и восстановление данных. Завершаем работу исправлением дефектов</a:t>
            </a:r>
          </a:p>
          <a:p xmlns:a="http://schemas.openxmlformats.org/drawingml/2006/main">
            <a:r>
              <a:t>и приёмкой. Каждый шаг опирается на согласованный контракт и результаты</a:t>
            </a:r>
          </a:p>
          <a:p xmlns:a="http://schemas.openxmlformats.org/drawingml/2006/main">
            <a:r>
              <a:t>предыдущего. Команда проверяет код и работу агентов.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docs/semester-mvp/plan.md: последовательность работ и проверяемые результаты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 итогам второго этапа мы подготовили ТЗ в DOCX и PDF, план семестра</a:t>
            </a:r>
          </a:p>
          <a:p xmlns:a="http://schemas.openxmlformats.org/drawingml/2006/main">
            <a:r>
              <a:t>и семнадцать проверок приёмки. Пользовательские сценарии будем проверять</a:t>
            </a:r>
          </a:p>
          <a:p xmlns:a="http://schemas.openxmlformats.org/drawingml/2006/main">
            <a:r>
              <a:t>в Android, а сложные расчёты и права доступа через API.</a:t>
            </a:r>
          </a:p>
          <a:p xmlns:a="http://schemas.openxmlformats.org/drawingml/2006/main">
            <a:r>
              <a:t>Отдельно проверим установку, выпуск сервера и восстановление данных.</a:t>
            </a:r>
          </a:p>
          <a:p xmlns:a="http://schemas.openxmlformats.org/drawingml/2006/main">
            <a:r>
              <a:t>Для каждого пункта зафиксируем результат и подтверждение.</a:t>
            </a:r>
          </a:p>
          <a:p xmlns:a="http://schemas.openxmlformats.org/drawingml/2006/main">
            <a:r>
              <a:t>Так у команды есть понятный объём работы и критерии, по которым</a:t>
            </a:r>
          </a:p>
          <a:p xmlns:a="http://schemas.openxmlformats.org/drawingml/2006/main">
            <a:r>
              <a:t>можно оценить готовую реализацию.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docs/semester-mvp/acceptance.md: SA-01—SA-17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62bea7f4274b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275be414c74cba" /><Relationship Type="http://schemas.openxmlformats.org/officeDocument/2006/relationships/slideLayout" Target="/ppt/slideLayouts/slideLayout1.xml" Id="R87090b4406e549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090b4406e549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ecb9457c64f9a" /><Relationship Type="http://schemas.openxmlformats.org/officeDocument/2006/relationships/image" Target="/ppt/media/image.png" Id="Rc4e35f93a45c466e" /><Relationship Type="http://schemas.openxmlformats.org/officeDocument/2006/relationships/notesSlide" Target="/ppt/notesSlides/notesSlide1.xml" Id="R4c44d6aaf7a640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257b0150524881" /><Relationship Type="http://schemas.openxmlformats.org/officeDocument/2006/relationships/notesSlide" Target="/ppt/notesSlides/notesSlide2.xml" Id="R11b50982512c48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0be1aea9ec4b33" /><Relationship Type="http://schemas.openxmlformats.org/officeDocument/2006/relationships/notesSlide" Target="/ppt/notesSlides/notesSlide3.xml" Id="Re83dc2b05b6b42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768f6804c94362" /><Relationship Type="http://schemas.openxmlformats.org/officeDocument/2006/relationships/notesSlide" Target="/ppt/notesSlides/notesSlide4.xml" Id="R8b75291186a447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745060027d46c2" /><Relationship Type="http://schemas.openxmlformats.org/officeDocument/2006/relationships/notesSlide" Target="/ppt/notesSlides/notesSlide5.xml" Id="R5dac036f3aa042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5a6e3cccf418c" /><Relationship Type="http://schemas.openxmlformats.org/officeDocument/2006/relationships/notesSlide" Target="/ppt/notesSlides/notesSlide6.xml" Id="Rc8ea7ab1483041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87ab07b8f141a0" /><Relationship Type="http://schemas.openxmlformats.org/officeDocument/2006/relationships/notesSlide" Target="/ppt/notesSlides/notesSlide7.xml" Id="R167d64ec346440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b14b391a243dd" /><Relationship Type="http://schemas.openxmlformats.org/officeDocument/2006/relationships/notesSlide" Target="/ppt/notesSlides/notesSlide8.xml" Id="R915a5c3ae95c42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A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e35f93a45c466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A12A2-B78D-4298-8B63-A956D86D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590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E175DF-5BEB-4288-9601-01189A22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457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Calorica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F90776-6448-44BD-8DBB-A8B04E5C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F7F3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7F3EA"/>
                </a:solidFill>
                <a:latin typeface="Helvetica Neue"/>
                <a:ea typeface="Helvetica Neue"/>
                <a:cs typeface="Helvetica Neue"/>
              </a:rPr>
              <a:t>Приложение для учёта питания,</a:t>
            </a:r>
          </a:p>
          <a:p xmlns:a="http://schemas.openxmlformats.org/drawingml/2006/main">
            <a:pPr>
              <a:buNone/>
              <a:defRPr sz="2175" b="1">
                <a:solidFill>
                  <a:srgbClr val="F7F3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7F3EA"/>
                </a:solidFill>
                <a:latin typeface="Helvetica Neue"/>
                <a:ea typeface="Helvetica Neue"/>
                <a:cs typeface="Helvetica Neue"/>
              </a:rPr>
              <a:t>калорий и БЖУ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2BA9B-A97B-4117-AAFB-E8D4EB36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E4EC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E4ECD9"/>
                </a:solidFill>
                <a:latin typeface="Helvetica Neue"/>
                <a:ea typeface="Helvetica Neue"/>
                <a:cs typeface="Helvetica Neue"/>
              </a:rPr>
              <a:t>Этап 2 · требования и план семестра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B93616-0573-47DD-B28A-7A2FEB57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E4EC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E4ECD9"/>
                </a:solidFill>
                <a:latin typeface="Helvetica Neue"/>
                <a:ea typeface="Helvetica Neue"/>
                <a:cs typeface="Helvetica Neue"/>
              </a:rPr>
              <a:t>ИТМО · 2026</a:t>
            </a:r>
          </a:p>
        </p:txBody>
      </p:sp>
    </p:spTree>
    <p:extLst>
      <p:ext uri="{BB962C8B-B14F-4D97-AF65-F5344CB8AC3E}">
        <p14:creationId xmlns:p14="http://schemas.microsoft.com/office/powerpoint/2010/main" val="13399724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95373B-CA71-4385-8370-F09FA074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3E8E3A-4C7A-44C9-9285-9914A87E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Объём семестровой версии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0B43E4-4014-4098-B9B1-01CC6D2F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1872C8-BE98-40EA-9E98-5DB19648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Два раздела Android: «Продукты» и «Дневник»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71C1C4-B31D-4A36-8237-A8A924B8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B5"/>
          </a:solidFill>
          <a:ln xmlns:a="http://schemas.openxmlformats.org/drawingml/2006/main" w="0">
            <a:solidFill>
              <a:srgbClr val="B8C5B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59AD48-F833-496D-805D-85265422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Аккаунт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1F6811-9880-4965-A0F1-03291BA3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716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Email и пароль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5C6C7D-51DE-47A7-A771-2BD75011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B5"/>
          </a:solidFill>
          <a:ln xmlns:a="http://schemas.openxmlformats.org/drawingml/2006/main" w="0">
            <a:solidFill>
              <a:srgbClr val="B8C5B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687987-8FAD-4545-93BD-353B3C88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Каталог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2EB2A2-B657-4D22-AC9F-578D7552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050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Около 50 продуктов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47F9F2-535D-47E7-8D56-97948E46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B5"/>
          </a:solidFill>
          <a:ln xmlns:a="http://schemas.openxmlformats.org/drawingml/2006/main" w="0">
            <a:solidFill>
              <a:srgbClr val="B8C5B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A917E6-9573-4BBD-98B3-532E69F2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Личный продукт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DB532D-18FE-4946-80A7-530B68AB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384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Создание и правка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AA0F4A-8618-4C8A-BA2A-4ECDC59D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B5"/>
          </a:solidFill>
          <a:ln xmlns:a="http://schemas.openxmlformats.org/drawingml/2006/main" w="0">
            <a:solidFill>
              <a:srgbClr val="B8C5B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1A63A7-5305-4C34-B1F3-8E764DDF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Состав блюда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360E76-6C17-44CF-976E-B3D4537B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718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Доли и выход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EC3ED6-FAA7-49D6-9679-423CCF8A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B5"/>
          </a:solidFill>
          <a:ln xmlns:a="http://schemas.openxmlformats.org/drawingml/2006/main" w="0">
            <a:solidFill>
              <a:srgbClr val="B8C5B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94DB51-537D-49FC-9CC9-AC350B8A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Запись питания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350A2C-7FFC-4BF6-AD74-A6A93966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052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Граммы и время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2CC780-E5F0-44D7-A497-3E1F2F54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B5"/>
          </a:solidFill>
          <a:ln xmlns:a="http://schemas.openxmlformats.org/drawingml/2006/main" w="0">
            <a:solidFill>
              <a:srgbClr val="B8C5B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7CEF4A-BAC7-4D4C-914B-C2290851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Итог дня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7486FC-D93D-4092-B5A7-32DA3B91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386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Калории и БЖУ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F9A36B-1DAC-4235-A014-F20D6C2E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19250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E9B8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53DC1A-F19A-4D41-BBCE-1EBB1A7A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907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Серверная часть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114AA4-9F44-4695-AB55-539B8067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6695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rPr>
              <a:t>Правила и расчёты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EA2B32-983A-4A0D-A237-A3F2D968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67050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Вложенные составы, выход блюда, права доступа и мягкое удаление.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296477-AFB2-44BE-A1DB-81C56497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71975"/>
            <a:ext cx="361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API: единицы измерения, лейблы и календарные сводки.</a:t>
            </a:r>
          </a:p>
        </p:txBody>
      </p:sp>
    </p:spTree>
    <p:extLst>
      <p:ext uri="{BB962C8B-B14F-4D97-AF65-F5344CB8AC3E}">
        <p14:creationId xmlns:p14="http://schemas.microsoft.com/office/powerpoint/2010/main" val="11510081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8C5FCD-3664-4A25-93D1-77A05F97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BA2214-FCDA-434E-8B04-65FCC680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Процесс учёта питания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B3E48C-DAA2-40AC-A443-C99DEB18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2CF21-5CD5-4A6D-BA97-3EC07F50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Вместо ручного поиска, пересчёта порций и суммирования записей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BE39F0-495F-4C15-92E4-07EC62A9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A30"/>
          </a:solidFill>
          <a:ln xmlns:a="http://schemas.openxmlformats.org/drawingml/2006/main" w="0">
            <a:solidFill>
              <a:srgbClr val="153A3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99131B-D604-49DD-A7B7-A2A337C0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Выбрать продукт</a:t>
            </a:r>
          </a:p>
          <a:p xmlns:a="http://schemas.openxmlformats.org/drawingml/2006/main">
            <a:pPr>
              <a:buNone/>
              <a:def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или блюдо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32F8BD-A645-4C1C-9242-DFA29E1F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Из каталога</a:t>
            </a:r>
          </a:p>
          <a:p xmlns:a="http://schemas.openxmlformats.org/drawingml/2006/main">
            <a:pPr>
              <a:buNone/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или создать свой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7AA7AC-5CD3-4819-B8BD-61B6C6C8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71725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5B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77C6CE-90B8-4E21-8D41-95AC2AA4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764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A30"/>
          </a:solidFill>
          <a:ln xmlns:a="http://schemas.openxmlformats.org/drawingml/2006/main" w="0">
            <a:solidFill>
              <a:srgbClr val="153A3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5323F8-F63B-4AFE-B130-C594C862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527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Указать</a:t>
            </a:r>
          </a:p>
          <a:p xmlns:a="http://schemas.openxmlformats.org/drawingml/2006/main">
            <a:pPr>
              <a:buNone/>
              <a:def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порцию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390187-9BC1-4166-8F4E-BB395BDB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695700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Граммы, время</a:t>
            </a:r>
          </a:p>
          <a:p xmlns:a="http://schemas.openxmlformats.org/drawingml/2006/main">
            <a:pPr>
              <a:buNone/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и лейблы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7077C2-E305-48F5-B1B8-A7CEE3F8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71725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5B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5C351A-F7C6-4A0A-95FA-A72217B8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764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A30"/>
          </a:solidFill>
          <a:ln xmlns:a="http://schemas.openxmlformats.org/drawingml/2006/main" w="0">
            <a:solidFill>
              <a:srgbClr val="153A3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898C46-511A-458C-8887-FA339628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527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Сохранить
запись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8514B2-F0C2-460D-836C-C20E0EA7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95700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Сервер проверяет</a:t>
            </a:r>
          </a:p>
          <a:p xmlns:a="http://schemas.openxmlformats.org/drawingml/2006/main">
            <a:pPr>
              <a:buNone/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данные и права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2F63BB-1E6E-41F5-9F17-5A719980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71725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5B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FC08F8-F17C-45A3-8E7C-EFA0B80B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764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5C14A8-93A5-4913-BA4A-9C5573DD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527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Посмотреть
итог дня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E390D1-168D-4E99-B3CE-81CE336D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95700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Калории и БЖУ</a:t>
            </a:r>
          </a:p>
          <a:p xmlns:a="http://schemas.openxmlformats.org/drawingml/2006/main">
            <a:pPr>
              <a:buNone/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за выбранную дату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363058-72F7-4119-A6DE-FDBCE87C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8"/>
          </a:solidFill>
          <a:ln xmlns:a="http://schemas.openxmlformats.org/drawingml/2006/main" w="0">
            <a:solidFill>
              <a:srgbClr val="DCE6D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0F0EB1-9F4F-4448-A5D5-9BB7EE2D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0"/>
            <a:ext cx="1021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rPr>
              <a:t>Пользователь может изменить или удалить запись. Сервер пересчитывает итог по актуальным карточкам продуктов.</a:t>
            </a:r>
          </a:p>
        </p:txBody>
      </p:sp>
    </p:spTree>
    <p:extLst>
      <p:ext uri="{BB962C8B-B14F-4D97-AF65-F5344CB8AC3E}">
        <p14:creationId xmlns:p14="http://schemas.microsoft.com/office/powerpoint/2010/main" val="615269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7D50AA-31CB-4B76-AC7E-4A595117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844BA-BC1A-4230-8B49-17CBE32C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Модель хранения состава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D8BF1-EE41-4E7A-9D44-0EC66777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3" name="input-normalization">
            <a:extLst xmlns:a="http://schemas.openxmlformats.org/drawingml/2006/main">
              <a:ext uri="{FF2B5EF4-FFF2-40B4-BE49-F238E27FC236}">
                <a16:creationId xmlns:a16="http://schemas.microsoft.com/office/drawing/2014/main" id="{D8D9BCA4-1A27-43AA-9910-DFF885CA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Сервер принимает граммы или проценты и сохраняет доли и коэффициенты.</a:t>
            </a:r>
          </a:p>
        </p:txBody>
      </p:sp>
      <p:sp>
        <p:nvSpPr>
          <p:cNvPr id="44" name="product-entity">
            <a:extLst xmlns:a="http://schemas.openxmlformats.org/drawingml/2006/main">
              <a:ext uri="{FF2B5EF4-FFF2-40B4-BE49-F238E27FC236}">
                <a16:creationId xmlns:a16="http://schemas.microsoft.com/office/drawing/2014/main" id="{A476F4C5-7E85-4B68-A48C-EFEEF461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Карточка продукта</a:t>
            </a:r>
          </a:p>
        </p:txBody>
      </p:sp>
      <p:sp>
        <p:nvSpPr>
          <p:cNvPr id="45" name="component-entity">
            <a:extLst xmlns:a="http://schemas.openxmlformats.org/drawingml/2006/main">
              <a:ext uri="{FF2B5EF4-FFF2-40B4-BE49-F238E27FC236}">
                <a16:creationId xmlns:a16="http://schemas.microsoft.com/office/drawing/2014/main" id="{AE65A823-EFE2-4501-BC7C-DB8CBF71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531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Связь состава</a:t>
            </a:r>
          </a:p>
        </p:txBody>
      </p:sp>
      <p:graphicFrame>
        <p:nvGraphicFramePr>
          <p:cNvPr id="58" name=""/>
          <p:cNvGraphicFramePr/>
          <p:nvPr/>
        </p:nvGraphicFramePr>
        <p:xfrm>
          <a:off xmlns:a="http://schemas.openxmlformats.org/drawingml/2006/main" x="685800" y="2209800"/>
          <a:ext xmlns:a="http://schemas.openxmlformats.org/drawingml/2006/main" cx="4381500" cy="2133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09750"/>
                <a:gridCol w="2571750"/>
              </a:tblGrid>
              <a:tr h="4191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35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Поле</a:t>
                      </a:r>
                    </a:p>
                  </a:txBody>
                  <a:tcPr marL="114300" marR="114300" marT="76200" marB="76200" anchor="ctr">
                    <a:solidFill>
                      <a:srgbClr val="DCE6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35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Значение</a:t>
                      </a:r>
                    </a:p>
                  </a:txBody>
                  <a:tcPr marL="114300" marR="114300" marT="76200" marB="76200" anchor="ctr">
                    <a:solidFill>
                      <a:srgbClr val="DCE6D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5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Название</a:t>
                      </a:r>
                    </a:p>
                  </a:txBody>
                  <a:tcPr marL="114300" marR="114300" marT="76200" marB="76200" anchor="ctr"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5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Название продукта</a:t>
                      </a:r>
                    </a:p>
                  </a:txBody>
                  <a:tcPr marL="114300" marR="114300" marT="76200" marB="76200" anchor="ctr">
                    <a:solidFill>
                      <a:srgbClr val="F7F3E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5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Ручные КБЖУ</a:t>
                      </a:r>
                    </a:p>
                  </a:txBody>
                  <a:tcPr marL="114300" marR="114300" marT="76200" marB="76200" anchor="ctr"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5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Для конечного продукта</a:t>
                      </a:r>
                    </a:p>
                  </a:txBody>
                  <a:tcPr marL="114300" marR="114300" marT="76200" marB="76200" anchor="ctr">
                    <a:solidFill>
                      <a:srgbClr val="F7F3E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5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Общий выход</a:t>
                      </a:r>
                    </a:p>
                  </a:txBody>
                  <a:tcPr marL="114300" marR="114300" marT="76200" marB="76200" anchor="ctr"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5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Необязательный коэффициент</a:t>
                      </a:r>
                    </a:p>
                  </a:txBody>
                  <a:tcPr marL="114300" marR="114300" marT="76200" marB="76200" anchor="ctr"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9" name=""/>
          <p:cNvGraphicFramePr/>
          <p:nvPr/>
        </p:nvGraphicFramePr>
        <p:xfrm>
          <a:off xmlns:a="http://schemas.openxmlformats.org/drawingml/2006/main" x="6191250" y="2209800"/>
          <a:ext xmlns:a="http://schemas.openxmlformats.org/drawingml/2006/main" cx="5314950" cy="27051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86000"/>
                <a:gridCol w="3028950"/>
              </a:tblGrid>
              <a:tr h="4191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35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Поле</a:t>
                      </a:r>
                    </a:p>
                  </a:txBody>
                  <a:tcPr marL="114300" marR="114300" marT="76200" marB="76200" anchor="ctr">
                    <a:solidFill>
                      <a:srgbClr val="DCE6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35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Значение</a:t>
                      </a:r>
                    </a:p>
                  </a:txBody>
                  <a:tcPr marL="114300" marR="114300" marT="76200" marB="76200" anchor="ctr">
                    <a:solidFill>
                      <a:srgbClr val="DCE6D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5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Блюдо</a:t>
                      </a:r>
                    </a:p>
                  </a:txBody>
                  <a:tcPr marL="114300" marR="114300" marT="76200" marB="76200" anchor="ctr"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5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Ссылка на продукт</a:t>
                      </a:r>
                    </a:p>
                  </a:txBody>
                  <a:tcPr marL="114300" marR="114300" marT="76200" marB="76200" anchor="ctr">
                    <a:solidFill>
                      <a:srgbClr val="F7F3E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5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Ингредиент</a:t>
                      </a:r>
                    </a:p>
                  </a:txBody>
                  <a:tcPr marL="114300" marR="114300" marT="76200" marB="76200" anchor="ctr"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5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Ссылка на продукт</a:t>
                      </a:r>
                    </a:p>
                  </a:txBody>
                  <a:tcPr marL="114300" marR="114300" marT="76200" marB="76200" anchor="ctr">
                    <a:solidFill>
                      <a:srgbClr val="F7F3E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5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Исходная доля</a:t>
                      </a:r>
                    </a:p>
                  </a:txBody>
                  <a:tcPr marL="114300" marR="114300" marT="76200" marB="76200" anchor="ctr"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5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Часть исходного состава</a:t>
                      </a:r>
                    </a:p>
                  </a:txBody>
                  <a:tcPr marL="114300" marR="114300" marT="76200" marB="76200" anchor="ctr">
                    <a:solidFill>
                      <a:srgbClr val="F7F3E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5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Выход ингредиента</a:t>
                      </a:r>
                    </a:p>
                  </a:txBody>
                  <a:tcPr marL="114300" marR="114300" marT="76200" marB="76200" anchor="ctr"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5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Необязательный коэффициент</a:t>
                      </a:r>
                    </a:p>
                  </a:txBody>
                  <a:tcPr marL="114300" marR="114300" marT="76200" marB="76200" anchor="ctr"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48" name="one-to-many">
            <a:extLst xmlns:a="http://schemas.openxmlformats.org/drawingml/2006/main">
              <a:ext uri="{FF2B5EF4-FFF2-40B4-BE49-F238E27FC236}">
                <a16:creationId xmlns:a16="http://schemas.microsoft.com/office/drawing/2014/main" id="{A4F5C083-AA8C-4681-8919-629113B1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4290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E9B83"/>
            </a:solidFill>
          </a:ln>
        </p:spPr>
      </p:sp>
      <p:sp>
        <p:nvSpPr>
          <p:cNvPr id="49" name="relationship-count">
            <a:extLst xmlns:a="http://schemas.openxmlformats.org/drawingml/2006/main">
              <a:ext uri="{FF2B5EF4-FFF2-40B4-BE49-F238E27FC236}">
                <a16:creationId xmlns:a16="http://schemas.microsoft.com/office/drawing/2014/main" id="{BB7451E9-8D39-41FB-9E6D-5BF5663C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3847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1 : N</a:t>
            </a:r>
          </a:p>
        </p:txBody>
      </p:sp>
      <p:sp>
        <p:nvSpPr>
          <p:cNvPr id="50" name="computed-values">
            <a:extLst xmlns:a="http://schemas.openxmlformats.org/drawingml/2006/main">
              <a:ext uri="{FF2B5EF4-FFF2-40B4-BE49-F238E27FC236}">
                <a16:creationId xmlns:a16="http://schemas.microsoft.com/office/drawing/2014/main" id="{650384E1-BDDB-4F02-A4D2-77B5CFAC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Сумма долей ровно 100%. КБЖУ считаем при запросе по актуальным карточкам.</a:t>
            </a:r>
          </a:p>
        </p:txBody>
      </p:sp>
      <p:sp>
        <p:nvSpPr>
          <p:cNvPr id="51" name="mass-storage">
            <a:extLst xmlns:a="http://schemas.openxmlformats.org/drawingml/2006/main">
              <a:ext uri="{FF2B5EF4-FFF2-40B4-BE49-F238E27FC236}">
                <a16:creationId xmlns:a16="http://schemas.microsoft.com/office/drawing/2014/main" id="{2A1066DC-3A50-486A-9F11-46E03A9B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Массу рецепта не сохраняем. Съеденные граммы храним в дневнике.</a:t>
            </a:r>
          </a:p>
        </p:txBody>
      </p:sp>
    </p:spTree>
    <p:extLst>
      <p:ext uri="{BB962C8B-B14F-4D97-AF65-F5344CB8AC3E}">
        <p14:creationId xmlns:p14="http://schemas.microsoft.com/office/powerpoint/2010/main" val="11292704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B253A4-FFF3-49B9-A2CB-634D7D3E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94696-21B6-4BB1-8B9A-E0612803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Выход блюда и масса порции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A30CC1-0D4A-4F43-9583-7AF05103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8F21D-E15E-40C3-8C81-2D319223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Пример: в ингредиентах всего 1600 ккал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491A13-8B7A-4F52-A593-5E3CD692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Приготовление и съеденная порция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F266C5-91FA-49E5-9A85-B94FCD12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8288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53A30"/>
          </a:solidFill>
          <a:ln xmlns:a="http://schemas.openxmlformats.org/drawingml/2006/main" w="0">
            <a:solidFill>
              <a:srgbClr val="153A3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1000 г</a:t>
            </a:r>
          </a:p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ингредиентов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6CBE95-E62C-4BB2-B7D7-B4704E01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90800"/>
            <a:ext cx="7429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E9B83"/>
          </a:solidFill>
          <a:ln xmlns:a="http://schemas.openxmlformats.org/drawingml/2006/main" w="0">
            <a:solidFill>
              <a:srgbClr val="7E9B8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905913-C804-4FA5-8704-DE5C7DF1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66950"/>
            <a:ext cx="1828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7E9B83"/>
          </a:solidFill>
          <a:ln xmlns:a="http://schemas.openxmlformats.org/drawingml/2006/main" w="0">
            <a:solidFill>
              <a:srgbClr val="7E9B83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800 г</a:t>
            </a:r>
          </a:p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готового блюда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96929D-4F08-468A-AAE5-32852AD2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590800"/>
            <a:ext cx="7429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E9B83"/>
          </a:solidFill>
          <a:ln xmlns:a="http://schemas.openxmlformats.org/drawingml/2006/main" w="0">
            <a:solidFill>
              <a:srgbClr val="7E9B8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F46AE1-2D09-4AC4-8DB0-4CDB82F1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66950"/>
            <a:ext cx="1828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53A30"/>
          </a:solidFill>
          <a:ln xmlns:a="http://schemas.openxmlformats.org/drawingml/2006/main" w="0">
            <a:solidFill>
              <a:srgbClr val="153A3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200 г</a:t>
            </a:r>
          </a:p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съедено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641209-55BC-4FC7-89F2-08B4F19D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800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Выход: 800 / 1000 = 0,8. В 100 г готового блюда 200 ккал.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CD459D-5635-4C27-B96B-C7A40B52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E9B8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B12164-F76C-4647-AE35-3FB5F389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8097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В дневнике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3B61CB-52B1-4C23-941C-5620AF90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24100"/>
            <a:ext cx="1809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200 г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400 ккал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Дата, время и лейблы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DC472F-A592-4A19-B5BB-BFAE2FD7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762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rPr>
              <a:t>В карточке храним доли и коэффициенты.
Съеденные граммы относятся к записи питания.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AAC012-B95F-4C00-A628-DF7CFBE8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857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Можно задать выход всего блюда или отдельных ингредиентов.
Без настройки выход равен 1.</a:t>
            </a:r>
          </a:p>
        </p:txBody>
      </p:sp>
    </p:spTree>
    <p:extLst>
      <p:ext uri="{BB962C8B-B14F-4D97-AF65-F5344CB8AC3E}">
        <p14:creationId xmlns:p14="http://schemas.microsoft.com/office/powerpoint/2010/main" val="16669243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114520-727B-4C48-B718-4B86B2BF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213AEA-3D8D-4E31-BA6D-77727E5D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Требования к качеству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BD1795-6398-4EFB-8E15-97EBFDCE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928E29-89CC-47A8-974F-39C158DF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Расчёты и данные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4C04EB-3F07-4F6F-AE2A-24A4990F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667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rPr>
              <a:t>Десятичные расчёты.
Точные доли состава.
Масса до 0,001 г.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E898B5-D2C2-402F-A1C9-A7F0ED6E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4476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Записи переживают перезапуск. Копии ежедневно и перед миграциями, с проверкой восстановления.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380EE5-0988-43FF-86F7-1CE52962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504950"/>
            <a:ext cx="0" cy="3524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E9B8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AFBC88-4C26-4DC5-B84B-20ABCF5A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8590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Безопасность и удобство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C66BFA-E606-4D75-9099-E6C566F9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8350"/>
            <a:ext cx="44767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80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HTTPS, защищённые сессии и проверка прав на сервере.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80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Ошибка сети видна пользователю. Таймаут запроса 10 секунд.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80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Android 8+ (API 26), русский интерфейс и элементы от 48 dp.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7E0CE3-82B4-43EB-8D2C-090A4028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95825"/>
            <a:ext cx="466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Независимые выпуски Android и сервера. Проверки перед автоматическим деплоем.</a:t>
            </a:r>
          </a:p>
        </p:txBody>
      </p:sp>
      <p:sp>
        <p:nvSpPr>
          <p:cNvPr id="12" name="agreed-stack">
            <a:extLst xmlns:a="http://schemas.openxmlformats.org/drawingml/2006/main">
              <a:ext uri="{FF2B5EF4-FFF2-40B4-BE49-F238E27FC236}">
                <a16:creationId xmlns:a16="http://schemas.microsoft.com/office/drawing/2014/main" id="{6711364F-8B3C-47EF-918C-7816889B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Android: Kotlin / Compose. Сервер: Kotlin / Spring Boot, Spring JDBC.</a:t>
            </a:r>
          </a:p>
          <a:p xmlns:a="http://schemas.openxmlformats.org/drawingml/2006/main">
            <a:pPr>
              <a:buNone/>
              <a:def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База данных: PostgreSQL и миграции Liquibase. Код в одном репозитории.</a:t>
            </a:r>
          </a:p>
        </p:txBody>
      </p:sp>
    </p:spTree>
    <p:extLst>
      <p:ext uri="{BB962C8B-B14F-4D97-AF65-F5344CB8AC3E}">
        <p14:creationId xmlns:p14="http://schemas.microsoft.com/office/powerpoint/2010/main" val="5498717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95373B-CA71-4385-8370-F09FA074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3E8E3A-4C7A-44C9-9285-9914A87E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План реализации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0B43E4-4014-4098-B9B1-01CC6D2F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1872C8-BE98-40EA-9E98-5DB19648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Последовательность работ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71C1C4-B31D-4A36-8237-A8A924B8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B5"/>
          </a:solidFill>
          <a:ln xmlns:a="http://schemas.openxmlformats.org/drawingml/2006/main" w="0">
            <a:solidFill>
              <a:srgbClr val="B8C5B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59AD48-F833-496D-805D-85265422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Контракт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1F6811-9880-4965-A0F1-03291BA3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716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API, схема и стенд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5C6C7D-51DE-47A7-A771-2BD75011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B5"/>
          </a:solidFill>
          <a:ln xmlns:a="http://schemas.openxmlformats.org/drawingml/2006/main" w="0">
            <a:solidFill>
              <a:srgbClr val="B8C5B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687987-8FAD-4545-93BD-353B3C88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Каталог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2EB2A2-B657-4D22-AC9F-578D7552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050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Продукты и доступ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47F9F2-535D-47E7-8D56-97948E46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B5"/>
          </a:solidFill>
          <a:ln xmlns:a="http://schemas.openxmlformats.org/drawingml/2006/main" w="0">
            <a:solidFill>
              <a:srgbClr val="B8C5B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A917E6-9573-4BBD-98B3-532E69F2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Расчёты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DB532D-18FE-4946-80A7-530B68AB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384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Составы и выход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AA0F4A-8618-4C8A-BA2A-4ECDC59D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B5"/>
          </a:solidFill>
          <a:ln xmlns:a="http://schemas.openxmlformats.org/drawingml/2006/main" w="0">
            <a:solidFill>
              <a:srgbClr val="B8C5B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1A63A7-5305-4C34-B1F3-8E764DDF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Android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360E76-6C17-44CF-976E-B3D4537B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718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Дневник и итог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EC3ED6-FAA7-49D6-9679-423CCF8A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B5"/>
          </a:solidFill>
          <a:ln xmlns:a="http://schemas.openxmlformats.org/drawingml/2006/main" w="0">
            <a:solidFill>
              <a:srgbClr val="B8C5B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94DB51-537D-49FC-9CC9-AC350B8A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Проверки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350A2C-7FFC-4BF6-AD74-A6A93966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052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Интеграция и выпуск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2CC780-E5F0-44D7-A497-3E1F2F54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B5"/>
          </a:solidFill>
          <a:ln xmlns:a="http://schemas.openxmlformats.org/drawingml/2006/main" w="0">
            <a:solidFill>
              <a:srgbClr val="B8C5B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7CEF4A-BAC7-4D4C-914B-C2290851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Приёмка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7486FC-D93D-4092-B5A7-32DA3B91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386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Исправления и сдача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F9A36B-1DAC-4235-A014-F20D6C2E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19250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E9B8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53DC1A-F19A-4D41-BBCE-1EBB1A7A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907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Порядок работы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114AA4-9F44-4695-AB55-539B8067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66950"/>
            <a:ext cx="4095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rPr>
              <a:t>Готовый результат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EA2B32-983A-4A0D-A237-A3F2D968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67050"/>
            <a:ext cx="3619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Следующий шаг опирается</a:t>
            </a:r>
            <a:br>
              <a:rPr sz="1875" b="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</a:br>
            <a:r>
              <a:rPr sz="1875" b="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на проверенный результат.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296477-AFB2-44BE-A1DB-81C56497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71975"/>
            <a:ext cx="3619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После интеграции исправляем</a:t>
            </a:r>
            <a:br>
              <a: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</a:br>
            <a:r>
              <a: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дефекты и проверяем поставку.</a:t>
            </a:r>
          </a:p>
        </p:txBody>
      </p:sp>
      <p:sp>
        <p:nvSpPr>
          <p:cNvPr id="29" name="agent-work">
            <a:extLst xmlns:a="http://schemas.openxmlformats.org/drawingml/2006/main">
              <a:ext uri="{FF2B5EF4-FFF2-40B4-BE49-F238E27FC236}">
                <a16:creationId xmlns:a16="http://schemas.microsoft.com/office/drawing/2014/main" id="{F3C2F58D-CABA-4D05-8C3A-277504B8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Код, ревью и исправления выполняем для каждого шага. Команда проверяет работу агентов.</a:t>
            </a:r>
          </a:p>
        </p:txBody>
      </p:sp>
    </p:spTree>
    <p:extLst>
      <p:ext uri="{BB962C8B-B14F-4D97-AF65-F5344CB8AC3E}">
        <p14:creationId xmlns:p14="http://schemas.microsoft.com/office/powerpoint/2010/main" val="11510081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53A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671A42-4E9B-444E-8D1E-5E1D2744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AC0858-9AFD-47AB-86FA-EBBF237C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Приёмка и итоги второго этапа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C09B13-B04A-4D6F-959C-F233FDE1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rPr>
              <a:t>Подготовили ТЗ в DOCX/PDF, план семестра и 17 проверок приёмки.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02F24-D4D4-4AE0-B766-B91CCAC1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94D593-0DEE-4F3D-A900-D1E6DCEE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2410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Сценарии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649B58-3B57-452A-9EB8-DC47FFB5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52675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rPr>
              <a:t>Вход, каталог, состав, запись питания и дневной итог.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A2C83E-185C-4FE9-A498-7CCFF381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986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54"/>
          </a:solidFill>
          <a:ln xmlns:a="http://schemas.openxmlformats.org/drawingml/2006/main" w="0">
            <a:solidFill>
              <a:srgbClr val="41615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D25886-7437-450F-A03E-D85703CB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2A1D0C-9736-4FB6-8407-F41E9BBA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7185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Расчёты и права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E136D7-B64C-4A58-9AA7-97A86C76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00425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rPr>
              <a:t>Контрольные числа, запрет циклов, изоляция пользователей и сохранение истории.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1E70F8-684A-4704-A10C-88ACEDCB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986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54"/>
          </a:solidFill>
          <a:ln xmlns:a="http://schemas.openxmlformats.org/drawingml/2006/main" w="0">
            <a:solidFill>
              <a:srgbClr val="41615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55926B-7877-4648-ABE0-CD1E2174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80EB29-5CC6-40E4-BFCB-02A4DA40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Выпуск и данные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F9B6A2-EB4E-4978-834A-724AA31C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48175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rPr>
              <a:t>Подписанный APK, сервер, миграции, восстановление резервной копии.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3E3F2B-649F-4806-882A-CDDF8648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Пользовательские сценарии проверяем в Android.
Доменные правила подтверждаем через API.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081A68-94FF-4FC1-8222-38960A7D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53485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2026-10-08T19:01:37.6920000Z</dcterms:created>
  <dcterms:modified xsi:type="dcterms:W3CDTF">2026-10-08T19:01:37.6920000Z</dcterms:modified>
</coreProperties>
</file>