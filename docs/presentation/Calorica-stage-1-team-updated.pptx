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4928ea87d84455" /><Relationship Type="http://schemas.openxmlformats.org/officeDocument/2006/relationships/extended-properties" Target="/docProps/app.xml" Id="Rdc6cad07266a40d6" /><Relationship Type="http://schemas.openxmlformats.org/officeDocument/2006/relationships/officeDocument" Target="/ppt/presentation.xml" Id="R4090d9da74c448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624802dfc4c2a"/>
  </p:sldMasterIdLst>
  <p:notesMasterIdLst>
    <p:notesMasterId xmlns:r="http://schemas.openxmlformats.org/officeDocument/2006/relationships" r:id="R8fce6c1e134245a6"/>
  </p:notesMasterIdLst>
  <p:sldIdLst>
    <p:sldId xmlns:r="http://schemas.openxmlformats.org/officeDocument/2006/relationships" id="256" r:id="R33374e41c9e3478d"/>
    <p:sldId xmlns:r="http://schemas.openxmlformats.org/officeDocument/2006/relationships" id="257" r:id="R67cee2a5aa434aea"/>
    <p:sldId xmlns:r="http://schemas.openxmlformats.org/officeDocument/2006/relationships" id="258" r:id="R5887ea6e760b4c91"/>
    <p:sldId xmlns:r="http://schemas.openxmlformats.org/officeDocument/2006/relationships" id="259" r:id="R6b3d83c9b28748fc"/>
    <p:sldId xmlns:r="http://schemas.openxmlformats.org/officeDocument/2006/relationships" id="260" r:id="R0953aa6dce0547ed"/>
    <p:sldId xmlns:r="http://schemas.openxmlformats.org/officeDocument/2006/relationships" id="261" r:id="R555c680595da4216"/>
    <p:sldId xmlns:r="http://schemas.openxmlformats.org/officeDocument/2006/relationships" id="262" r:id="R7f68497861d14a77"/>
    <p:sldId xmlns:r="http://schemas.openxmlformats.org/officeDocument/2006/relationships" id="263" r:id="R33cef6427ac04a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541b9796f4768" /><Relationship Type="http://schemas.openxmlformats.org/officeDocument/2006/relationships/slideMaster" Target="/ppt/slideMasters/slideMaster1.xml" Id="R469624802dfc4c2a" /><Relationship Type="http://schemas.openxmlformats.org/officeDocument/2006/relationships/notesMaster" Target="/ppt/notesMasters/notesMaster1.xml" Id="R8fce6c1e134245a6" /><Relationship Type="http://schemas.openxmlformats.org/officeDocument/2006/relationships/presProps" Target="/ppt/presProps.xml" Id="R9ad318c435024de5" /><Relationship Type="http://schemas.openxmlformats.org/officeDocument/2006/relationships/tableStyles" Target="/ppt/tableStyles.xml" Id="R9a5ad0d4991144aa" /><Relationship Type="http://schemas.openxmlformats.org/officeDocument/2006/relationships/slide" Target="/ppt/slides/slide1.xml" Id="R33374e41c9e3478d" /><Relationship Type="http://schemas.openxmlformats.org/officeDocument/2006/relationships/slide" Target="/ppt/slides/slide2.xml" Id="R67cee2a5aa434aea" /><Relationship Type="http://schemas.openxmlformats.org/officeDocument/2006/relationships/slide" Target="/ppt/slides/slide3.xml" Id="R5887ea6e760b4c91" /><Relationship Type="http://schemas.openxmlformats.org/officeDocument/2006/relationships/slide" Target="/ppt/slides/slide4.xml" Id="R6b3d83c9b28748fc" /><Relationship Type="http://schemas.openxmlformats.org/officeDocument/2006/relationships/slide" Target="/ppt/slides/slide5.xml" Id="R0953aa6dce0547ed" /><Relationship Type="http://schemas.openxmlformats.org/officeDocument/2006/relationships/slide" Target="/ppt/slides/slide6.xml" Id="R555c680595da4216" /><Relationship Type="http://schemas.openxmlformats.org/officeDocument/2006/relationships/slide" Target="/ppt/slides/slide7.xml" Id="R7f68497861d14a77" /><Relationship Type="http://schemas.openxmlformats.org/officeDocument/2006/relationships/slide" Target="/ppt/slides/slide8.xml" Id="R33cef6427ac04a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fcffd1adaa44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a9fc68ab64d58" /><Relationship Type="http://schemas.openxmlformats.org/officeDocument/2006/relationships/notesMaster" Target="/ppt/notesMasters/notesMaster1.xml" Id="Rd2cfc1a23ce742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2998f2e6364cd7" /><Relationship Type="http://schemas.openxmlformats.org/officeDocument/2006/relationships/notesMaster" Target="/ppt/notesMasters/notesMaster1.xml" Id="Rab7d9106b85843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09fd97f714a27" /><Relationship Type="http://schemas.openxmlformats.org/officeDocument/2006/relationships/notesMaster" Target="/ppt/notesMasters/notesMaster1.xml" Id="R89bb0fa0395e42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3982b3e964af2" /><Relationship Type="http://schemas.openxmlformats.org/officeDocument/2006/relationships/notesMaster" Target="/ppt/notesMasters/notesMaster1.xml" Id="Rb7447fafccfe40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308b757c874f05" /><Relationship Type="http://schemas.openxmlformats.org/officeDocument/2006/relationships/notesMaster" Target="/ppt/notesMasters/notesMaster1.xml" Id="Rcbfd5caa26ea47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39236d2e304f97" /><Relationship Type="http://schemas.openxmlformats.org/officeDocument/2006/relationships/notesMaster" Target="/ppt/notesMasters/notesMaster1.xml" Id="R93d16ade726d44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cad69a107447f4" /><Relationship Type="http://schemas.openxmlformats.org/officeDocument/2006/relationships/notesMaster" Target="/ppt/notesMasters/notesMaster1.xml" Id="R96e8f6b3983644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339fc219c402b" /><Relationship Type="http://schemas.openxmlformats.org/officeDocument/2006/relationships/notesMaster" Target="/ppt/notesMasters/notesMaster1.xml" Id="R19968a984fc2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docs/requirements/vision/product-vision.md. Изображение — иллюстрация, созданная для обложки; не демонстрирует готовый интерфейс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docs/requirements/vision/product-vision.md, раздел «Команда проекта».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docs/requirements/vision/target-users-and-problem.md.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docs/requirements/vision/product-vision.md; docs/requirements/functional/meal-diary.md;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docs/requirements/functional/product-catalog.md; docs/requirements/domain/product-composition-graph.md; docs/requirements/data/base-catalog.md.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docs/requirements/functional/meal-diary.md; docs/requirements/domain/units-of-measurement.md;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docs/requirements/functional/analytics.md. Диаграммы на слайде схематичны и не содержат фактических пользовательских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docs/requirements/README.md; docs/requirements/vision/product-vision.md; docs/requirements/domain/calculation-principles.md.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7e18b561b44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6a1d562e7d4612" /><Relationship Type="http://schemas.openxmlformats.org/officeDocument/2006/relationships/slideLayout" Target="/ppt/slideLayouts/slideLayout1.xml" Id="R3f056b5f95f54b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56b5f95f54b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c9b7d7d21411e" /><Relationship Type="http://schemas.openxmlformats.org/officeDocument/2006/relationships/image" Target="/ppt/media/image.png" Id="Radb9894fa99d40e3" /><Relationship Type="http://schemas.openxmlformats.org/officeDocument/2006/relationships/notesSlide" Target="/ppt/notesSlides/notesSlide1.xml" Id="Rb963bd1ec0fe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685fd76cd4211" /><Relationship Type="http://schemas.openxmlformats.org/officeDocument/2006/relationships/notesSlide" Target="/ppt/notesSlides/notesSlide2.xml" Id="Rb813e0253df446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14f299ff24071" /><Relationship Type="http://schemas.openxmlformats.org/officeDocument/2006/relationships/notesSlide" Target="/ppt/notesSlides/notesSlide3.xml" Id="Ref8817ac0449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0e001a83842b9" /><Relationship Type="http://schemas.openxmlformats.org/officeDocument/2006/relationships/notesSlide" Target="/ppt/notesSlides/notesSlide4.xml" Id="Rfdf620e4240a40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a4fec6694f8f" /><Relationship Type="http://schemas.openxmlformats.org/officeDocument/2006/relationships/notesSlide" Target="/ppt/notesSlides/notesSlide5.xml" Id="Rc34f455f31bf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45a8d33904468" /><Relationship Type="http://schemas.openxmlformats.org/officeDocument/2006/relationships/notesSlide" Target="/ppt/notesSlides/notesSlide6.xml" Id="R7759342f050944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1db45cdc648f2" /><Relationship Type="http://schemas.openxmlformats.org/officeDocument/2006/relationships/notesSlide" Target="/ppt/notesSlides/notesSlide7.xml" Id="R50742cf540324f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a9b73d3fe49f9" /><Relationship Type="http://schemas.openxmlformats.org/officeDocument/2006/relationships/notesSlide" Target="/ppt/notesSlides/notesSlide8.xml" Id="R8bf844fedfb743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9894fa99d40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F276D-2329-4C0E-8814-FD491175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B182-A2B4-4C70-A51D-0262D3F1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65D5F-3A3A-4629-AF4A-EDC0BB1E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Приложение для учёта питания,</a:t>
            </a:r>
          </a:p>
          <a:p xmlns:a="http://schemas.openxmlformats.org/drawingml/2006/main">
            <a:pPr>
              <a:def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3EA"/>
                </a:solidFill>
                <a:latin typeface="Helvetica Neue"/>
                <a:ea typeface="Helvetica Neue"/>
                <a:cs typeface="Helvetica Neue"/>
              </a:rPr>
              <a:t>калорий и БЖУ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7159-DFAA-48AB-AFCF-654D83E8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Этап 1 · выбор темы и бизнес-требования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380C-6643-4FDB-A4D1-D4D7D9C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4ECD9"/>
                </a:solidFill>
                <a:latin typeface="Helvetica Neue"/>
                <a:ea typeface="Helvetica Neue"/>
                <a:cs typeface="Helvetica Neue"/>
              </a:rPr>
              <a:t>ИТМО · 2026</a:t>
            </a:r>
          </a:p>
        </p:txBody>
      </p:sp>
    </p:spTree>
    <p:extLst>
      <p:ext uri="{BB962C8B-B14F-4D97-AF65-F5344CB8AC3E}">
        <p14:creationId xmlns:p14="http://schemas.microsoft.com/office/powerpoint/2010/main" val="856819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E8569-281A-4A85-9E26-91EEF9F8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17844-384E-4B5F-8687-F2C66BB1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Команда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F6079-164E-4B7D-A1BC-41DB216A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25376-3EF6-44B1-B498-27E0877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Формальные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00D5-C3F1-4068-9F6E-E8AE113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CFE27-7C13-46C3-941A-849806E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Валера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2E7C6-9C46-424E-ACDD-D688437D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DevOps-инженер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700ED-A5FE-40FB-BCD9-A153D7D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46355-90F1-4BE8-85E0-566CA75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Камила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09597-2125-4775-80B7-D1944B83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05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Тестировщик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DCE77-0254-412B-BEBD-B4DAF456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71E85-A463-4B28-B673-0597CDEB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Богдан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0CC3E-606C-40FE-9231-012A0D5A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71A5D-5FEA-4B74-8052-2B377A2D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6817F-69FF-4CF3-BCD5-57B1C83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Николай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80927-131A-4A58-9B27-7917CF8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Разработчик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750CF-D0D1-40C1-8739-C03F2379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B5284-A1B2-499C-B3C5-C291E38A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Рауль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4A39B-F100-4C6F-8F30-D2E5C54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5A127-195F-404A-BA32-8D9147F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7B275-D160-4108-9BAF-AF15A369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Мария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81DE4-07B8-4063-B4D8-9E8FF6C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Аналитик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BD672-AEF0-461E-A3F4-7B43F8E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192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7F72F-E445-459C-B6E6-CA069528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Тема проекта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8474F-C23B-42A4-9566-40700C61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Calorica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52442-5059-487D-8116-9BBC812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Мобильное приложение с серверной частью для учёта питания, калорий и БЖУ.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7933A-74FF-44F7-9BA5-0428FFA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Проект объединяет личный дневник, каталог продуктов и анализ рациона.</a:t>
            </a:r>
          </a:p>
        </p:txBody>
      </p:sp>
    </p:spTree>
    <p:extLst>
      <p:ext uri="{BB962C8B-B14F-4D97-AF65-F5344CB8AC3E}">
        <p14:creationId xmlns:p14="http://schemas.microsoft.com/office/powerpoint/2010/main" val="1019252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00518-50EB-4F1A-A743-EA72F7ED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C5C1C-126A-43F7-9E17-45654665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Пользователь и его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D9B98-1A6B-4240-94C1-30548D0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79D32-B5E6-4D03-A3E1-135D6692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Кому нужен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C2FDC-5E5E-4E32-BB10-34CEE23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Человеку, который хочет понимать свой рацион и менять пищевые привычки на основе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58FA2-5AAF-4187-B580-E723B51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Учёт должен занимать минимум времени и не требовать постоянных ручных вычислений.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A14DE-23FA-45AA-BFAF-8308EC1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E8A0F-6399-4CD0-A132-F582F98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Почему ручной учёт не работает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CEE64-FAE3-48CE-9013-D99CD47A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Нужно самостоятельно структурировать записи.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Калории и БЖУ приходится рассчитывать вручную.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 разрозненным заметкам трудно увидеть динамику и состав рациона.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91540-7E5F-47A6-882A-3A994068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Calorica переводит учёт в единый цифровой процесс: запись, расчёт и анализ находятся в одном месте.</a:t>
            </a:r>
          </a:p>
        </p:txBody>
      </p:sp>
    </p:spTree>
    <p:extLst>
      <p:ext uri="{BB962C8B-B14F-4D97-AF65-F5344CB8AC3E}">
        <p14:creationId xmlns:p14="http://schemas.microsoft.com/office/powerpoint/2010/main" val="325282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206DF-7001-4CA7-97A9-F62B2AB0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2E928-CD4B-488A-87FD-8F6D5F75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Ценность Calorica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05CE6-37C5-4195-844C-7219E3C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38702-3549-4B3F-B48E-7A6FEEA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Пользовательский путь от продукта к пониманию рациона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1687F-2485-4097-A01F-F0156D9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804F2-AAF5-46AB-858E-A1B390C7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Найти 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E4EEA-9089-4233-9E32-0E15B243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свои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6D1D6-1C1A-4DDB-89B1-E7AE8DC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F110F-E7F3-4DA4-A00C-D0BB3003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0FE4A-2A47-40C0-B00A-1596D0A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Добавить</a:t>
            </a:r>
          </a:p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в дневник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D81C2-E07A-41FA-B53B-78015B94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Количество, время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 лейблы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42831-446C-4306-90C9-64890F8A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22EF6-8932-4A2A-872D-19848E5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9AB30-F738-4A8D-83AD-5548C752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Получить расчёт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528B-42E8-450C-A731-404E45B5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ручных формул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E5B05-EB94-483E-9ADA-CE5EE11E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7D71D-C5D7-4C65-9598-7CF3BD2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57F81-D4F0-4818-A470-54EA59D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Открыть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1E124-C752-4735-B13E-429F3386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957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День, неделя</a:t>
            </a:r>
          </a:p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или месяц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13A50-037B-41E0-B7F2-B3A43C1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5B75A-81CD-4F43-B911-65E4B710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Сервер хранит данные, проверяет права и выполняет расчёты. Мобильный клиент отвечает за интерфейс, запросы к API и кэширование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82126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8B2C5-BB9A-4A02-A7F6-47D046D7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E314E-8443-43DA-A1EE-6F3F1F76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Каталог и единая модель продуктов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78092-33BB-4EEC-82B4-257F171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EFC-17C0-4EEF-9471-82067339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Каталог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2CB8B-ED3B-40C9-A811-5C045FEA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Базовый каталог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28FFF-BFBC-4884-A69D-3427F71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Около 50 распространённых продуктов. Admin поддерживает общие позиции и лейблы.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5CC79-4A2B-4EA3-8E40-605A8626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Личные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5AFE6-F018-4889-B930-1B7AD464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Видны только владельцу. Поиск помогает быстро найти продукт, а лейблы — отфильтровать каталог.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9005E-1317-4F1C-9EED-45B4F301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1CD5F-9215-471F-94E4-1F16CC0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Составной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FAD6-AAD8-484E-B389-DBEB42B2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КБЖУ рассчитываются из актуальных компонентов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F8F0D-45AB-4AD4-B466-DD486438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543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Конечный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D800B-51F2-45E8-9975-3621EA4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1543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Конечный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8839E-17FF-419A-8AE9-39F2DC9A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1962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Составной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cxnSp>
        <p:nvCxnSpPr>
          <p:cNvPr id="3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72300" y="3381375"/>
            <a:ext cx="175260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5B5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72300" y="3981450"/>
            <a:ext cx="17526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C5B5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559AA-BDE7-4EAD-935E-60BF4C2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100% массовых долей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Без циклов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36E2E-928A-4C70-AD44-B680A55C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15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Продукт становится составным после добавления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1983823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14C42-3A5B-4B08-AD18-74EEEC13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0F296-DFD1-4BB0-A16D-01F232D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Дневник и точность учёта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8AE9B-5AF6-48CD-83A4-B2619B5E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2F93F-D3E6-433A-A0E8-20F399D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Запись доступна для любой выбранной 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3BB97-C398-4D0E-90A5-36550AE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Сценарий добавления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043C8-C973-480A-B4AF-A8155760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82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53DE6-C04D-42CA-B964-16214105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AA6A-170A-40B5-B41A-F7D11EEC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Количество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 или мл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095AB-F138-419B-B6C0-B6A35BF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69580-B18F-4D7B-A302-BB7CB725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828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 граммах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65214-B178-4E77-89C5-11918420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Миллилитры доступны только там, где для продукта задан коэффициент перевода в граммы.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3C121-A9F7-4420-9109-343C4DA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9B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78906-23F4-4AB0-B750-D9520451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Что хранит запись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AAAA7-49E1-4414-8485-4B25007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809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Дата и время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Количество в граммах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Один или несколько лейблов приёма пищи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7E1E9-DF33-46E2-9251-72AD73B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Время подставляется автоматически и при необходимости меняется. Доступные лейблы: завтрак, обед, ужин, перекус.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C595E-6A41-4CDD-A85A-BE736C6B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 и БЖУ рассчитываются из актуальной карточки продукта при запросе дневника и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607481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78D000-880E-4797-94AC-1B57E36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A2286-A662-4A55-95E2-39E9DAA7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Анализ рациона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04BE0-F5D7-4BCC-89AE-73CA73C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CF7E4-34A0-4DEF-B142-964B9F72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0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Выбранная дата определяет календарный день, неделю или месяц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B763A-1E94-4854-8533-3DC6D14E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53A30"/>
          </a:solidFill>
          <a:ln xmlns:a="http://schemas.openxmlformats.org/drawingml/2006/main" w="0">
            <a:solidFill>
              <a:srgbClr val="153A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46A4C-DA58-4FCD-A91C-FBD29249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907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Неделя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6F17C-37A5-4F71-957D-C8F2D0AC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6D8"/>
          </a:solidFill>
          <a:ln xmlns:a="http://schemas.openxmlformats.org/drawingml/2006/main" w="0">
            <a:solidFill>
              <a:srgbClr val="DCE6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Месяц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FC553-A4B4-4387-8515-81E3972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A30"/>
                </a:solidFill>
                <a:latin typeface="Helvetica Neue"/>
                <a:ea typeface="Helvetica Neue"/>
                <a:cs typeface="Helvetica Neue"/>
              </a:rPr>
              <a:t>Сверху — средние калории и БЖУ за период. Дни без записей дают нулевой вклад в среднее.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0F6B6-D4D8-4774-92E9-F7649957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Личные ориентиры по калориям, белкам, жирам и углеводам необязательны и задаются в профиле.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36EEF-1AF2-42E5-9830-A64ADA3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0" cy="1943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09D80-93FB-4CAC-A016-EE21E8B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5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D80C9-DCCF-44C4-A92C-2E6C796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C0F0F-240A-4CBE-8428-E484B9F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13144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6D8"/>
          </a:solidFill>
          <a:ln xmlns:a="http://schemas.openxmlformats.org/drawingml/2006/main" w="19050">
            <a:solidFill>
              <a:srgbClr val="7E9B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3D411-0E68-4087-B36E-202E741C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Ккал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F93FB-03EB-4ED8-97BD-DB8AF53E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Белки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37128-9FE9-4B68-AA15-4A027985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Жиры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53FE3-C29F-4FDA-B1C1-26B1D13B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Углеводы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57580-1AB6-46F8-85DE-ADB6A6D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Радар факта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относительно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CF050-B2AE-476E-8654-BB82786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19550"/>
            <a:ext cx="19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C731A-2709-45BD-9D5C-0AAB37DA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19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4A64E-F1DE-4648-8796-D54E43C4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338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0497D-8744-415F-9DA5-DABFEB7B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86150"/>
            <a:ext cx="19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E5F9D-3DBB-4CF2-9125-710A55D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848100"/>
            <a:ext cx="19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3"/>
          </a:solidFill>
          <a:ln xmlns:a="http://schemas.openxmlformats.org/drawingml/2006/main" w="0">
            <a:solidFill>
              <a:srgbClr val="7E9B8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1CBED-8438-4662-A355-43E83D5B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5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54683-1F2D-4842-96D3-E151B43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Калории</a:t>
            </a:r>
          </a:p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по дням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3EABA-7F20-46F0-AEDD-F47F4F9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B5"/>
          </a:solidFill>
          <a:ln xmlns:a="http://schemas.openxmlformats.org/drawingml/2006/main" w="0">
            <a:solidFill>
              <a:srgbClr val="B8C5B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F172F-24AC-48E8-A80F-9F02963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Продуктовые лейблы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4FD3D-DDEC-4578-B25D-78611A90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4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Масса в граммах помогает увидеть состав рациона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C0D6A-2CAA-44B7-9866-9FD2D953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34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52B"/>
                </a:solidFill>
                <a:latin typeface="Helvetica Neue"/>
                <a:ea typeface="Helvetica Neue"/>
                <a:cs typeface="Helvetica Neue"/>
              </a:rPr>
              <a:t>Лейблы приёмов пищи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48AD8A-4224-4A24-81E3-1DE8CB7D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03885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7066"/>
                </a:solidFill>
                <a:latin typeface="Helvetica Neue"/>
                <a:ea typeface="Helvetica Neue"/>
                <a:cs typeface="Helvetica Neue"/>
              </a:rPr>
              <a:t>Столбцы калорий для завтрака, обеда, ужина и перекуса</a:t>
            </a:r>
          </a:p>
        </p:txBody>
      </p:sp>
    </p:spTree>
    <p:extLst>
      <p:ext uri="{BB962C8B-B14F-4D97-AF65-F5344CB8AC3E}">
        <p14:creationId xmlns:p14="http://schemas.microsoft.com/office/powerpoint/2010/main" val="1629879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41905-8253-4672-B48C-385E515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461"/>
          </a:solidFill>
          <a:ln xmlns:a="http://schemas.openxmlformats.org/drawingml/2006/main" w="0">
            <a:solidFill>
              <a:srgbClr val="D784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06693-DC34-4E71-8D21-D39C86B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Согласованный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00C5D-1609-421E-814A-85F15D00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Тема, команда и бизнес-требования первого этапа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8784A-E888-4DA0-A3E9-FA46132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A3946-06FB-4262-A4C0-2AD0EDAE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Мобильный 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2F0B4-0485-4336-BC04-4EC99C1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526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Интерфейс, запросы к API и кэширование уже полученных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21755-F0E8-4D36-89C9-B49D8A0C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9AF88-74D4-41DA-BC2D-DDFB8A2F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0F3DF-2A1A-4B52-9B98-20DED0E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Серверная часть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E30E4-AA22-4A6D-BC20-59AF17D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Регистрация по e-mail и паролю, права доступа, хранение и расчёты.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AA32A-1187-44BD-8BD3-472BDA75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154"/>
          </a:solidFill>
          <a:ln xmlns:a="http://schemas.openxmlformats.org/drawingml/2006/main" w="0">
            <a:solidFill>
              <a:srgbClr val="4161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7AF0F-4674-4AE4-B15A-C95E7A53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78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30F00-EB97-47B5-9B2C-54759A8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Нормализованные данные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23979-E2F6-4605-BF92-B6C5EE4D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Продукты, дневник, лейблы и аналитика строятся из актуальных данных.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E8A5E-66FC-4698-AF38-FE8C95A9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Calorica помогает видеть рацион и принимать собственные решения на основе учёта питания.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1C402-9490-4D0D-B615-C6D1FC1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6D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9017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2026-09-24T15:52:56.5820000Z</dcterms:created>
  <dcterms:modified xsi:type="dcterms:W3CDTF">2026-09-24T15:52:56.5820000Z</dcterms:modified>
</coreProperties>
</file>