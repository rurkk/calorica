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2fe28674c44987" /><Relationship Type="http://schemas.openxmlformats.org/officeDocument/2006/relationships/extended-properties" Target="/docProps/app.xml" Id="R9038f4df841e4ba2" /><Relationship Type="http://schemas.openxmlformats.org/officeDocument/2006/relationships/officeDocument" Target="/ppt/presentation.xml" Id="Rc7aaf9a12b2c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f6a6a892bb4388"/>
  </p:sldMasterIdLst>
  <p:notesMasterIdLst>
    <p:notesMasterId xmlns:r="http://schemas.openxmlformats.org/officeDocument/2006/relationships" r:id="R3e3a7245258946c2"/>
  </p:notesMasterIdLst>
  <p:sldIdLst>
    <p:sldId xmlns:r="http://schemas.openxmlformats.org/officeDocument/2006/relationships" id="256" r:id="Rd8fdfe3cabe24491"/>
    <p:sldId xmlns:r="http://schemas.openxmlformats.org/officeDocument/2006/relationships" id="257" r:id="R660522fb69a94c77"/>
    <p:sldId xmlns:r="http://schemas.openxmlformats.org/officeDocument/2006/relationships" id="258" r:id="R7f7bb62b443d43fb"/>
    <p:sldId xmlns:r="http://schemas.openxmlformats.org/officeDocument/2006/relationships" id="259" r:id="R137fe48cf1e34992"/>
    <p:sldId xmlns:r="http://schemas.openxmlformats.org/officeDocument/2006/relationships" id="260" r:id="R8ab214b4bba849e8"/>
    <p:sldId xmlns:r="http://schemas.openxmlformats.org/officeDocument/2006/relationships" id="261" r:id="R2dcdb4c6a7e44dbf"/>
    <p:sldId xmlns:r="http://schemas.openxmlformats.org/officeDocument/2006/relationships" id="262" r:id="R105aca57b6e84ebc"/>
    <p:sldId xmlns:r="http://schemas.openxmlformats.org/officeDocument/2006/relationships" id="263" r:id="Rca8f0e0b2d6b4f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46a5ae20e147ec" /><Relationship Type="http://schemas.openxmlformats.org/officeDocument/2006/relationships/slideMaster" Target="/ppt/slideMasters/slideMaster1.xml" Id="R7ff6a6a892bb4388" /><Relationship Type="http://schemas.openxmlformats.org/officeDocument/2006/relationships/notesMaster" Target="/ppt/notesMasters/notesMaster1.xml" Id="R3e3a7245258946c2" /><Relationship Type="http://schemas.openxmlformats.org/officeDocument/2006/relationships/presProps" Target="/ppt/presProps.xml" Id="R9088feb534c2406d" /><Relationship Type="http://schemas.openxmlformats.org/officeDocument/2006/relationships/tableStyles" Target="/ppt/tableStyles.xml" Id="Rd53fcb0822b74ed9" /><Relationship Type="http://schemas.openxmlformats.org/officeDocument/2006/relationships/slide" Target="/ppt/slides/slide1.xml" Id="Rd8fdfe3cabe24491" /><Relationship Type="http://schemas.openxmlformats.org/officeDocument/2006/relationships/slide" Target="/ppt/slides/slide2.xml" Id="R660522fb69a94c77" /><Relationship Type="http://schemas.openxmlformats.org/officeDocument/2006/relationships/slide" Target="/ppt/slides/slide3.xml" Id="R7f7bb62b443d43fb" /><Relationship Type="http://schemas.openxmlformats.org/officeDocument/2006/relationships/slide" Target="/ppt/slides/slide4.xml" Id="R137fe48cf1e34992" /><Relationship Type="http://schemas.openxmlformats.org/officeDocument/2006/relationships/slide" Target="/ppt/slides/slide5.xml" Id="R8ab214b4bba849e8" /><Relationship Type="http://schemas.openxmlformats.org/officeDocument/2006/relationships/slide" Target="/ppt/slides/slide6.xml" Id="R2dcdb4c6a7e44dbf" /><Relationship Type="http://schemas.openxmlformats.org/officeDocument/2006/relationships/slide" Target="/ppt/slides/slide7.xml" Id="R105aca57b6e84ebc" /><Relationship Type="http://schemas.openxmlformats.org/officeDocument/2006/relationships/slide" Target="/ppt/slides/slide8.xml" Id="Rca8f0e0b2d6b4f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c66ca25669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381b61e5543f9" /><Relationship Type="http://schemas.openxmlformats.org/officeDocument/2006/relationships/notesMaster" Target="/ppt/notesMasters/notesMaster1.xml" Id="Re977d51103144d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58c12ef7f14077" /><Relationship Type="http://schemas.openxmlformats.org/officeDocument/2006/relationships/notesMaster" Target="/ppt/notesMasters/notesMaster1.xml" Id="Rcd228e3481f542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4ed93febd847fb" /><Relationship Type="http://schemas.openxmlformats.org/officeDocument/2006/relationships/notesMaster" Target="/ppt/notesMasters/notesMaster1.xml" Id="R51e57e3299c044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cf63677098472a" /><Relationship Type="http://schemas.openxmlformats.org/officeDocument/2006/relationships/notesMaster" Target="/ppt/notesMasters/notesMaster1.xml" Id="R528879f7de554f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907d58e2864137" /><Relationship Type="http://schemas.openxmlformats.org/officeDocument/2006/relationships/notesMaster" Target="/ppt/notesMasters/notesMaster1.xml" Id="R51b82b71c7ff4d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b25b433174db7" /><Relationship Type="http://schemas.openxmlformats.org/officeDocument/2006/relationships/notesMaster" Target="/ppt/notesMasters/notesMaster1.xml" Id="R795b5edb7bae4e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a742d909fb48df" /><Relationship Type="http://schemas.openxmlformats.org/officeDocument/2006/relationships/notesMaster" Target="/ppt/notesMasters/notesMaster1.xml" Id="R8e4105f2019f4b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d2b4efc1d34e88" /><Relationship Type="http://schemas.openxmlformats.org/officeDocument/2006/relationships/notesMaster" Target="/ppt/notesMasters/notesMaster1.xml" Id="R51b54e9a11e744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docs/requirements/vision/product-vision.md. Изображение — иллюстрация, созданная для обложки; не демонстрирует готовый интерфейс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docs/requirements/vision/product-vision.md, раздел «Команда проекта».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docs/requirements/vision/target-users-and-problem.md.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docs/requirements/vision/product-vision.md; docs/requirements/functional/meal-diary.md;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docs/requirements/functional/product-catalog.md; docs/requirements/domain/product-composition-graph.md; docs/requirements/data/base-catalog.md. Иллюстрации продуктов созданы с помощью ImageGen. Пример состава с условными долями: салат состоит из 80% овощной смеси и 20% йогуртового соуса; смесь из 50% помидора и 50% огурца; соус из 20% огурца и 80% йогурта. Доли ингредиентов по весу для каждого состава дают 100%. Стрелки указывают на ингредиенты. Огурец используется и в смеси, и в соусе. Ингредиент может иметь собственный состав. Блюдо не может входить в собственный состав, даже через другие ингредиенты. Калории и БЖУ можно указать вручную на 100 г или рассчитать по данным ингредиентов. Позже пользователь может добавить ингредиенты и перейти к расчёту по составу. Для продуктов и блюд используется одна карточка каталога. Администратор поддерживает общие позиции и лейблы. Поиск помогает найти продукт или блюдо, а лейблы фильтруют каталог.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docs/requirements/functional/meal-diary.md; docs/requirements/domain/units-of-measurement.md;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docs/requirements/functional/analytics.md. Диаграммы на слайде схематичны и не содержат фактических пользовательских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docs/requirements/README.md; docs/requirements/vision/product-vision.md;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d79dc85fe4c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5000ecba4413a" /><Relationship Type="http://schemas.openxmlformats.org/officeDocument/2006/relationships/slideLayout" Target="/ppt/slideLayouts/slideLayout1.xml" Id="Rdc01b7993c8f43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01b7993c8f43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5e22c028842ba" /><Relationship Type="http://schemas.openxmlformats.org/officeDocument/2006/relationships/image" Target="/ppt/media/image.png" Id="Re5a493ee5d9342cc" /><Relationship Type="http://schemas.openxmlformats.org/officeDocument/2006/relationships/notesSlide" Target="/ppt/notesSlides/notesSlide1.xml" Id="R51e9e8aa36c44c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b20435ad54e9c" /><Relationship Type="http://schemas.openxmlformats.org/officeDocument/2006/relationships/notesSlide" Target="/ppt/notesSlides/notesSlide2.xml" Id="R2e6caa72c1f249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45d484f224fa7" /><Relationship Type="http://schemas.openxmlformats.org/officeDocument/2006/relationships/notesSlide" Target="/ppt/notesSlides/notesSlide3.xml" Id="R5100e71484fc4a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ed044538646de" /><Relationship Type="http://schemas.openxmlformats.org/officeDocument/2006/relationships/notesSlide" Target="/ppt/notesSlides/notesSlide4.xml" Id="Rb384cf17d5d247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ef18a9cf34c08" /><Relationship Type="http://schemas.openxmlformats.org/officeDocument/2006/relationships/image" Target="/ppt/media/image2.png" Id="R7dd99bf6d6e84345" /><Relationship Type="http://schemas.openxmlformats.org/officeDocument/2006/relationships/image" Target="/ppt/media/image3.png" Id="R77670aac73a24304" /><Relationship Type="http://schemas.openxmlformats.org/officeDocument/2006/relationships/image" Target="/ppt/media/image4.png" Id="Rf9bb7579fce54332" /><Relationship Type="http://schemas.openxmlformats.org/officeDocument/2006/relationships/image" Target="/ppt/media/image5.png" Id="R988281655d144562" /><Relationship Type="http://schemas.openxmlformats.org/officeDocument/2006/relationships/image" Target="/ppt/media/image6.png" Id="Rb28e6b7b05da414d" /><Relationship Type="http://schemas.openxmlformats.org/officeDocument/2006/relationships/image" Target="/ppt/media/image7.png" Id="R660ddca3dc704c3c" /><Relationship Type="http://schemas.openxmlformats.org/officeDocument/2006/relationships/notesSlide" Target="/ppt/notesSlides/notesSlide5.xml" Id="R9a1199fa780f42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63654b0fd4ee7" /><Relationship Type="http://schemas.openxmlformats.org/officeDocument/2006/relationships/notesSlide" Target="/ppt/notesSlides/notesSlide6.xml" Id="R608b74fd13804c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1199e559c494c" /><Relationship Type="http://schemas.openxmlformats.org/officeDocument/2006/relationships/notesSlide" Target="/ppt/notesSlides/notesSlide7.xml" Id="Rc4c31083b58b47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1232919b54e6f" /><Relationship Type="http://schemas.openxmlformats.org/officeDocument/2006/relationships/notesSlide" Target="/ppt/notesSlides/notesSlide8.xml" Id="R08e235a9f06e44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493ee5d9342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A12A2-B78D-4298-8B63-A956D86D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175DF-5BEB-4288-9601-01189A22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90776-6448-44BD-8DBB-A8B04E5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Приложение для учёта питания,</a:t>
            </a:r>
          </a:p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калорий и БЖУ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2BA9B-A97B-4117-AAFB-E8D4EB3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Этап 1 · выбор темы и бизнес-требования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93616-0573-47DD-B28A-7A2FEB5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ИТМО · 2026</a:t>
            </a:r>
          </a:p>
        </p:txBody>
      </p:sp>
    </p:spTree>
    <p:extLst>
      <p:ext uri="{BB962C8B-B14F-4D97-AF65-F5344CB8AC3E}">
        <p14:creationId xmlns:p14="http://schemas.microsoft.com/office/powerpoint/2010/main" val="1339972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5373B-CA71-4385-8370-F09FA074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E8E3A-4C7A-44C9-9285-9914A87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Команда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B43E4-4014-4098-B9B1-01CC6D2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872C8-BE98-40EA-9E98-5DB19648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Формальные роли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1C1C4-B31D-4A36-8237-A8A924B8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9AD48-F833-496D-805D-8526542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Валера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F6811-9880-4965-A0F1-03291BA3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DevOps-инженер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C6C7D-51DE-47A7-A771-2BD75011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87987-8FAD-4545-93BD-353B3C88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Камила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EB2A2-B657-4D22-AC9F-578D7552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Тестировщик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7F9F2-535D-47E7-8D56-97948E46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917E6-9573-4BBD-98B3-532E69F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Богдан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B532D-18FE-4946-80A7-530B68A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38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A0F4A-8618-4C8A-BA2A-4ECDC59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A63A7-5305-4C34-B1F3-8E764DD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Николай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60E76-6C17-44CF-976E-B3D4537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C3ED6-FAA7-49D6-9679-423CCF8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4DB51-537D-49FC-9CC9-AC350B8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Рауль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50A2C-7FFC-4BF6-AD74-A6A9396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CC780-E5F0-44D7-A497-3E1F2F54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CEF4A-BAC7-4D4C-914B-C229085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Мария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486FC-D93D-4092-B5A7-32DA3B91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9A36B-1DAC-4235-A014-F20D6C2E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3DC1A-F19A-4D41-BBCE-1EBB1A7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Тема проекта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14AA4-9F44-4695-AB55-539B806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A2B32-983A-4A0D-A237-A3F2D96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Мобильное приложение с серверной частью для учёта питания, калорий и БЖУ.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96477-AFB2-44BE-A1DB-81C5649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576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Проект объединяет личный дневник, каталог продуктов и анализ рациона.</a:t>
            </a:r>
          </a:p>
        </p:txBody>
      </p:sp>
    </p:spTree>
    <p:extLst>
      <p:ext uri="{BB962C8B-B14F-4D97-AF65-F5344CB8AC3E}">
        <p14:creationId xmlns:p14="http://schemas.microsoft.com/office/powerpoint/2010/main" val="1151008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14520-727B-4C48-B718-4B86B2BF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13AEA-3D8D-4E31-BA6D-77727E5D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Пользователь и его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D1795-6398-4EFB-8E15-97EBFDCE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28E29-89CC-47A8-974F-39C158D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Кому нужен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C04EB-3F07-4F6F-AE2A-24A4990F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Человеку, который хочет понимать свой рацион и менять пищевые привычки на основе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898B5-D2C2-402F-A1C9-A7F0ED6E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Учёт должен занимать минимум времени и не требовать постоянных ручных вычислений.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80EE5-0988-43FF-86F7-1CE52962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FBC88-4C26-4DC5-B84B-20ABCF5A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Почему ручной учёт не работает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66BFA-E606-4D75-9099-E6C566F9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Нужно самостоятельно структурировать записи.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Калории и БЖУ приходится рассчитывать вручную.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 разрозненным заметкам трудно увидеть динамику и состав рациона.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E0CE3-82B4-43EB-8D2C-090A4028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Calorica переводит учёт в единый цифровой процесс: запись, расчёт и анализ находятся в одном месте.</a:t>
            </a:r>
          </a:p>
        </p:txBody>
      </p:sp>
    </p:spTree>
    <p:extLst>
      <p:ext uri="{BB962C8B-B14F-4D97-AF65-F5344CB8AC3E}">
        <p14:creationId xmlns:p14="http://schemas.microsoft.com/office/powerpoint/2010/main" val="549871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C5FCD-3664-4A25-93D1-77A05F97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A2214-FCDA-434E-8B04-65FCC68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Ценность Calorica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3E48C-DAA2-40AC-A443-C99DEB1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2CF21-5CD5-4A6D-BA97-3EC07F50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Пользовательский путь от продукта к пониманию рациона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E39F0-495F-4C15-92E4-07EC62A9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9131B-D604-49DD-A7B7-A2A337C0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Выбрать продукт</a:t>
            </a:r>
          </a:p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или блюдо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2F8BD-A645-4C1C-9242-DFA29E1F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Из каталога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или создать свой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AA7AC-5CD3-4819-B8BD-61B6C6C8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7C6CE-90B8-4E21-8D41-95AC2AA4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323F8-F63B-4AFE-B130-C594C862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Добавить</a:t>
            </a:r>
          </a:p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 дневник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90187-9BC1-4166-8F4E-BB395BD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Количество, время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лейблы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077C2-E305-48F5-B1B8-A7CEE3F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C351A-F7C6-4A0A-95FA-A72217B8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98C46-511A-458C-8887-FA339628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Получить расчёт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514B2-F0C2-460D-836C-C20E0EA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без ручных формул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F63BB-1E6E-41F5-9F17-5A719980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C08F8-F17C-45A3-8E7C-EFA0B80B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C14A8-93A5-4913-BA4A-9C5573DD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Открыть 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390D1-168D-4E99-B3CE-81CE336D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День, неделя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или месяц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63058-72F7-4119-A6DE-FDBCE87C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F0EB1-9F4F-4448-A5D5-9BB7EE2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Сервер хранит данные, проверяет права и выполняет расчёты. Мобильный клиент отвечает за интерфейс, запросы к API и кэширование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61526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7D50AA-31CB-4B76-AC7E-4A595117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844BA-BC1A-4230-8B49-17CBE32C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Продукты, блюда и их состав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D8BF1-EE41-4E7A-9D44-0EC66777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74C98-B6C2-47F2-92E0-73B3F4B8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 можно указать вручную или рассчитать по составу.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87A78-BD72-46AE-85D7-0F235D5D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Расчёт по составу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0E4C0-A761-44F2-A46B-8FA9A50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621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КБЖУ указаны вручную</a:t>
            </a:r>
          </a:p>
        </p:txBody>
      </p:sp>
      <p:sp>
        <p:nvSpPr>
          <p:cNvPr id="7" name="Салат с соусом">
            <a:extLst xmlns:a="http://schemas.openxmlformats.org/drawingml/2006/main">
              <a:ext uri="{FF2B5EF4-FFF2-40B4-BE49-F238E27FC236}">
                <a16:creationId xmlns:a16="http://schemas.microsoft.com/office/drawing/2014/main" id="{25E4927D-DE04-4C49-BC2A-4970A072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99bf6d6e84345"/>
          <a:srcRect xmlns:a="http://schemas.openxmlformats.org/drawingml/2006/main" l="0" t="0" r="66667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" y="31051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CAD86-5DE5-41A2-8F31-8C72E8E8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Салат с соусом</a:t>
            </a:r>
          </a:p>
        </p:txBody>
      </p:sp>
      <p:sp>
        <p:nvSpPr>
          <p:cNvPr id="10" name="Овощная смесь">
            <a:extLst xmlns:a="http://schemas.openxmlformats.org/drawingml/2006/main">
              <a:ext uri="{FF2B5EF4-FFF2-40B4-BE49-F238E27FC236}">
                <a16:creationId xmlns:a16="http://schemas.microsoft.com/office/drawing/2014/main" id="{1EC59F0D-EE54-482B-867C-24B4B4B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70aac73a24304"/>
          <a:srcRect xmlns:a="http://schemas.openxmlformats.org/drawingml/2006/main" l="33333" t="0" r="33333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21050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7FAF6-C9E4-4F1E-BE33-A4FF3C2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Овощная смесь</a:t>
            </a:r>
          </a:p>
        </p:txBody>
      </p:sp>
      <p:sp>
        <p:nvSpPr>
          <p:cNvPr id="13" name="Йогуртовый соус">
            <a:extLst xmlns:a="http://schemas.openxmlformats.org/drawingml/2006/main">
              <a:ext uri="{FF2B5EF4-FFF2-40B4-BE49-F238E27FC236}">
                <a16:creationId xmlns:a16="http://schemas.microsoft.com/office/drawing/2014/main" id="{71A9B86A-35F7-4181-A1FC-F78651EB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3862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b7579fce54332"/>
          <a:srcRect xmlns:a="http://schemas.openxmlformats.org/drawingml/2006/main" l="66667" t="0" r="0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41052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7DBA9-6901-44DB-BE29-A1B971CD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149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Йогуртовый соус</a:t>
            </a:r>
          </a:p>
        </p:txBody>
      </p:sp>
      <p:sp>
        <p:nvSpPr>
          <p:cNvPr id="16" name="Помидор">
            <a:extLst xmlns:a="http://schemas.openxmlformats.org/drawingml/2006/main">
              <a:ext uri="{FF2B5EF4-FFF2-40B4-BE49-F238E27FC236}">
                <a16:creationId xmlns:a16="http://schemas.microsoft.com/office/drawing/2014/main" id="{CB98B43E-A2F5-4A1C-8F16-B0C4147D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281655d144562"/>
          <a:srcRect xmlns:a="http://schemas.openxmlformats.org/drawingml/2006/main" l="0" t="50000" r="6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190500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36F5D-05DD-4EE1-9B0D-8A8C0C04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Помидор</a:t>
            </a:r>
          </a:p>
        </p:txBody>
      </p:sp>
      <p:sp>
        <p:nvSpPr>
          <p:cNvPr id="19" name="Огурец">
            <a:extLst xmlns:a="http://schemas.openxmlformats.org/drawingml/2006/main">
              <a:ext uri="{FF2B5EF4-FFF2-40B4-BE49-F238E27FC236}">
                <a16:creationId xmlns:a16="http://schemas.microsoft.com/office/drawing/2014/main" id="{CDF7BB17-7DB2-4DC0-900A-ED4240BB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9087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e6b7b05da414d"/>
          <a:srcRect xmlns:a="http://schemas.openxmlformats.org/drawingml/2006/main" l="33333" t="50000" r="3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319087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ED469-095D-438E-BD31-B151FDA5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433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Огурец</a:t>
            </a:r>
          </a:p>
        </p:txBody>
      </p:sp>
      <p:sp>
        <p:nvSpPr>
          <p:cNvPr id="22" name="Йогурт">
            <a:extLst xmlns:a="http://schemas.openxmlformats.org/drawingml/2006/main">
              <a:ext uri="{FF2B5EF4-FFF2-40B4-BE49-F238E27FC236}">
                <a16:creationId xmlns:a16="http://schemas.microsoft.com/office/drawing/2014/main" id="{5C084821-F6EF-4A43-9F86-9047822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ddca3dc704c3c"/>
          <a:srcRect xmlns:a="http://schemas.openxmlformats.org/drawingml/2006/main" l="66667" t="50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44767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6332C-E266-437F-B2E7-2E2BF223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2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Йогурт</a:t>
            </a:r>
          </a:p>
        </p:txBody>
      </p:sp>
      <p:cxnSp>
        <p:nvCxnSpPr>
          <p:cNvPr id="6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381250" y="2676525"/>
            <a:ext cx="261937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08EA1-B7ED-468A-A152-FACDB125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051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81250" y="3676650"/>
            <a:ext cx="261937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B80D8-B193-4B9E-9028-53E98F49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624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cxnSp>
        <p:nvCxnSpPr>
          <p:cNvPr id="70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429375" y="2343150"/>
            <a:ext cx="319087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DEF2A-7F13-4C3C-9294-FF84347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429375" y="2676525"/>
            <a:ext cx="319087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5CA1E3-3BE5-4D80-8C27-F19C84D0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cxnSp>
        <p:nvCxnSpPr>
          <p:cNvPr id="74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6429375" y="3629025"/>
            <a:ext cx="319087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DA0FEA-764E-40CD-9724-7B94506B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cxnSp>
        <p:nvCxnSpPr>
          <p:cNvPr id="76" name=""/>
          <p:cNvCxnSpPr>
            <a:stCxn xmlns:a="http://schemas.openxmlformats.org/drawingml/2006/main" id="13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429375" y="4676775"/>
            <a:ext cx="319087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BC5494-5962-4932-9F7B-4B0035E7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148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2A591-2357-498C-9744-7B8A145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Стрелка указывает на ингредиент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Доли по весу в сумме дают 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026D28-85DF-4D06-9C29-46ACDC1E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КБЖУ по данным ингредиентов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F46E8D-02DD-4D20-AE36-174E9C5E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47480-51C0-4A17-A9BF-3EF4B245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Блюдо не может входить в собственный состав, даже через другие ингредиенты. Доли условные.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2A197F-8CE4-4B72-AEB4-8D13B13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Базовый каталог: около 50 продуктов, редактирует Admin. Личные продукты видны владельцу.</a:t>
            </a:r>
          </a:p>
        </p:txBody>
      </p:sp>
    </p:spTree>
    <p:extLst>
      <p:ext uri="{BB962C8B-B14F-4D97-AF65-F5344CB8AC3E}">
        <p14:creationId xmlns:p14="http://schemas.microsoft.com/office/powerpoint/2010/main" val="1129270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253A4-FFF3-49B9-A2CB-634D7D3E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94696-21B6-4BB1-8B9A-E0612803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Дневник и точность учёта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30CC1-0D4A-4F43-9583-7AF05103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8F21D-E15E-40C3-8C81-2D319223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Запись доступна для любой выбранной даты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91A13-8B7A-4F52-A593-5E3CD692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Сценарий добавления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266C5-91FA-49E5-9A85-B94FCD1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или блюдо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CBE95-E62C-4BB2-B7D7-B4704E0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05913-C804-4FA5-8704-DE5C7DF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Количество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 или мл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6929D-4F08-468A-AAE5-32852AD2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46AE1-2D09-4AC4-8DB0-4CDB82F1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 граммах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41209-55BC-4FC7-89F2-08B4F19D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Миллилитры доступны только там, где для продукта задан коэффициент перевода в граммы.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D459D-5635-4C27-B96B-C7A40B52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12164-F76C-4647-AE35-3FB5F389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Что хранит запись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B61CB-52B1-4C23-941C-5620AF90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Дата и время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Количество в граммах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Один или несколько лейблов приёма пищи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C472F-A592-4A19-B5BB-BFAE2FD7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Время подставляется автоматически и при необходимости меняется. Доступные лейблы: завтрак, обед, ужин, перекус.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AC012-B95F-4C00-A628-DF7CFBE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 рассчитываются из актуальной карточки продукта при запросе дневника и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1666924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C1300-1202-4228-984D-AF183D53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C2D9C-E91A-4F0A-98B9-F6793FA9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Анализ рациона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38820-E555-4B4D-8C8C-DA67D16C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6D0B9-5605-48D6-8462-E046664E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0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Выбранная дата определяет календарный день, неделю или месяц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590CD-7CD8-44FC-9551-275313DB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День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F7BFD-3D5C-465A-90CB-0A22CC3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907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Неделя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47D19-D642-405C-9757-ADA12114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Месяц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2077D-855B-4937-9018-0D8B0FC3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Сверху — средние калории и БЖУ за период. Дни без записей дают нулевой вклад в среднее.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66D34-22E6-454C-9404-9B7D9156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Личные ориентиры по калориям, белкам, жирам и углеводам необязательны и задаются в профиле.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7A1AB-231D-4331-82DA-29BEE788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0" cy="1943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FC168-99DB-4FBA-BC8F-13FEC072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5A255-0075-4A32-B696-6623D073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1409700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C9EC3-F525-49B6-AD10-555FCC41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314450" cy="1066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19050">
            <a:solidFill>
              <a:srgbClr val="7E9B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2B484-0A8C-4758-BA8D-3C4D0477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14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Ккал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AA826-61ED-482E-88CD-337C84DB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Белки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8A981-02BD-48E1-9D7C-E5F249A3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Жиры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E6219-C341-4AEA-948A-355214AF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Углеводы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4AEFD-634F-428C-B7BF-C5030CC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Радар факта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относительно ориентира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DBC3D-146C-43D7-8033-DDFD091B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195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3515F-73D8-4C61-B217-321097FB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95700"/>
            <a:ext cx="19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0523C-5A99-4C71-AB70-471EE446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3385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CEFAD-C7E6-4A96-9112-17F02B39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86150"/>
            <a:ext cx="19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00D6C-41FC-4704-BE56-CB9E8834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84810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9102BA-BA0B-48AB-9973-A6473612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B2F42-DBC5-410B-A8DA-14F8633E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 дням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679D52-36D5-4893-8A9F-87A85756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9E50C7-64FF-4934-A2A2-4B44EAD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Продуктовые лейблы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0FB3F8-F5F5-44B4-B3D4-3C650F17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Масса в граммах помогает увидеть состав рациона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6B4011-7530-4267-8E83-0E53B4B1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34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Лейблы приёмов пищи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7CD3A-C703-46AF-ADDA-FCD0D4B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0388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Столбцы калорий для завтрака, обеда, ужина и перекуса</a:t>
            </a:r>
          </a:p>
        </p:txBody>
      </p:sp>
    </p:spTree>
    <p:extLst>
      <p:ext uri="{BB962C8B-B14F-4D97-AF65-F5344CB8AC3E}">
        <p14:creationId xmlns:p14="http://schemas.microsoft.com/office/powerpoint/2010/main" val="1196552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71A42-4E9B-444E-8D1E-5E1D274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0858-9AFD-47AB-86FA-EBBF237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Согласованный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09B13-B04A-4D6F-959C-F233FDE1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Тема, команда и бизнес-требования первого этапа зафиксированы.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02F24-D4D4-4AE0-B766-B91CCAC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4D593-0DEE-4F3D-A900-D1E6DCEE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Мобильный 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49B58-3B57-452A-9EB8-DC47FFB5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526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Интерфейс, запросы к API и кэширование уже полученных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2C83E-185C-4FE9-A498-7CCFF381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25886-7437-450F-A03E-D85703CB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A1D0C-9736-4FB6-8407-F41E9BB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Серверная часть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136D7-B64C-4A58-9AA7-97A86C76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Регистрация по e-mail и паролю, права доступа, хранение и расчёты.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E70F8-684A-4704-A10C-88ACEDC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5926B-7877-4648-ABE0-CD1E217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0EB29-5CC6-40E4-BFCB-02A4DA40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Нормализованные данные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9B6A2-EB4E-4978-834A-724AA31C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Продукты, дневник, лейблы и аналитика строятся из актуальных данных.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E3F2B-649F-4806-882A-CDDF8648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 помогает видеть рацион и принимать собственные решения на основе учёта питания.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81A68-94FF-4FC1-8222-38960A7D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348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2026-09-24T18:21:25.8990000Z</dcterms:created>
  <dcterms:modified xsi:type="dcterms:W3CDTF">2026-09-24T18:21:25.8990000Z</dcterms:modified>
</coreProperties>
</file>