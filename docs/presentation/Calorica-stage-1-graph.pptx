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5cd6f2f14f4b33" /><Relationship Type="http://schemas.openxmlformats.org/officeDocument/2006/relationships/extended-properties" Target="/docProps/app.xml" Id="Rc8b3e772c4d24662" /><Relationship Type="http://schemas.openxmlformats.org/officeDocument/2006/relationships/officeDocument" Target="/ppt/presentation.xml" Id="Rc8c46693edd2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9880594e6045f7"/>
  </p:sldMasterIdLst>
  <p:notesMasterIdLst>
    <p:notesMasterId xmlns:r="http://schemas.openxmlformats.org/officeDocument/2006/relationships" r:id="R010a3ae2c92d4208"/>
  </p:notesMasterIdLst>
  <p:sldIdLst>
    <p:sldId xmlns:r="http://schemas.openxmlformats.org/officeDocument/2006/relationships" id="256" r:id="R792a3beeeaf647d8"/>
    <p:sldId xmlns:r="http://schemas.openxmlformats.org/officeDocument/2006/relationships" id="257" r:id="R31a85da7ce734cff"/>
    <p:sldId xmlns:r="http://schemas.openxmlformats.org/officeDocument/2006/relationships" id="258" r:id="R510691d0821245ae"/>
    <p:sldId xmlns:r="http://schemas.openxmlformats.org/officeDocument/2006/relationships" id="259" r:id="R7270cbfb4f4b4588"/>
    <p:sldId xmlns:r="http://schemas.openxmlformats.org/officeDocument/2006/relationships" id="260" r:id="R952b8e906a004b2a"/>
    <p:sldId xmlns:r="http://schemas.openxmlformats.org/officeDocument/2006/relationships" id="261" r:id="R15877821f36e4ba1"/>
    <p:sldId xmlns:r="http://schemas.openxmlformats.org/officeDocument/2006/relationships" id="262" r:id="R980f767f941d4880"/>
    <p:sldId xmlns:r="http://schemas.openxmlformats.org/officeDocument/2006/relationships" id="263" r:id="Re9c2694e415548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861623ba28405e" /><Relationship Type="http://schemas.openxmlformats.org/officeDocument/2006/relationships/slideMaster" Target="/ppt/slideMasters/slideMaster1.xml" Id="R139880594e6045f7" /><Relationship Type="http://schemas.openxmlformats.org/officeDocument/2006/relationships/notesMaster" Target="/ppt/notesMasters/notesMaster1.xml" Id="R010a3ae2c92d4208" /><Relationship Type="http://schemas.openxmlformats.org/officeDocument/2006/relationships/presProps" Target="/ppt/presProps.xml" Id="Rc49bc0b649a14f75" /><Relationship Type="http://schemas.openxmlformats.org/officeDocument/2006/relationships/tableStyles" Target="/ppt/tableStyles.xml" Id="R0a45f4e0c79b4510" /><Relationship Type="http://schemas.openxmlformats.org/officeDocument/2006/relationships/slide" Target="/ppt/slides/slide1.xml" Id="R792a3beeeaf647d8" /><Relationship Type="http://schemas.openxmlformats.org/officeDocument/2006/relationships/slide" Target="/ppt/slides/slide2.xml" Id="R31a85da7ce734cff" /><Relationship Type="http://schemas.openxmlformats.org/officeDocument/2006/relationships/slide" Target="/ppt/slides/slide3.xml" Id="R510691d0821245ae" /><Relationship Type="http://schemas.openxmlformats.org/officeDocument/2006/relationships/slide" Target="/ppt/slides/slide4.xml" Id="R7270cbfb4f4b4588" /><Relationship Type="http://schemas.openxmlformats.org/officeDocument/2006/relationships/slide" Target="/ppt/slides/slide5.xml" Id="R952b8e906a004b2a" /><Relationship Type="http://schemas.openxmlformats.org/officeDocument/2006/relationships/slide" Target="/ppt/slides/slide6.xml" Id="R15877821f36e4ba1" /><Relationship Type="http://schemas.openxmlformats.org/officeDocument/2006/relationships/slide" Target="/ppt/slides/slide7.xml" Id="R980f767f941d4880" /><Relationship Type="http://schemas.openxmlformats.org/officeDocument/2006/relationships/slide" Target="/ppt/slides/slide8.xml" Id="Re9c2694e415548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b2fdf161404b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fb19a710e4fe7" /><Relationship Type="http://schemas.openxmlformats.org/officeDocument/2006/relationships/notesMaster" Target="/ppt/notesMasters/notesMaster1.xml" Id="Rbdcdcbb00a1248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07c1f9a34f4213" /><Relationship Type="http://schemas.openxmlformats.org/officeDocument/2006/relationships/notesMaster" Target="/ppt/notesMasters/notesMaster1.xml" Id="R7856495534bf4e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b8941afdf649a5" /><Relationship Type="http://schemas.openxmlformats.org/officeDocument/2006/relationships/notesMaster" Target="/ppt/notesMasters/notesMaster1.xml" Id="R1f7770a7eb26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f34768d157447a" /><Relationship Type="http://schemas.openxmlformats.org/officeDocument/2006/relationships/notesMaster" Target="/ppt/notesMasters/notesMaster1.xml" Id="Rfc085a1463b5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67aa2cddb49df" /><Relationship Type="http://schemas.openxmlformats.org/officeDocument/2006/relationships/notesMaster" Target="/ppt/notesMasters/notesMaster1.xml" Id="R45b21376f839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6f9485b7c2442c" /><Relationship Type="http://schemas.openxmlformats.org/officeDocument/2006/relationships/notesMaster" Target="/ppt/notesMasters/notesMaster1.xml" Id="Ra6a393517d8e41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f67360012944af" /><Relationship Type="http://schemas.openxmlformats.org/officeDocument/2006/relationships/notesMaster" Target="/ppt/notesMasters/notesMaster1.xml" Id="R4d65b623dd894e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d7e5c1a3734ea8" /><Relationship Type="http://schemas.openxmlformats.org/officeDocument/2006/relationships/notesMaster" Target="/ppt/notesMasters/notesMaster1.xml" Id="Raafc834232f342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docs/requirements/vision/product-vision.md. Изображение — иллюстрация, созданная для обложки; не демонстрирует готовый интерфейс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docs/requirements/vision/product-vision.md, раздел «Команда проекта».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docs/requirements/vision/target-users-and-problem.md.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docs/requirements/vision/product-vision.md; docs/requirements/functional/meal-diary.md;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docs/requirements/functional/product-catalog.md; docs/requirements/domain/product-composition-graph.md; docs/requirements/data/base-catalog.md. Иллюстрации продуктов созданы с помощью ImageGen. Учебный пример состава, не рецепт: салат состоит из 80% овощной смеси и 20% йогуртового соуса; смесь из 50% помидора и 50% огурца; соус из 20% огурца и 80% йогурта. Каждый состав даёт 100%. Стрелки показывают направление от родительского продукта к компоненту. Огурец имеет двух родителей. Есть вложенный состав, все узлы связаны, циклов нет. Конечные продукты содержат ручные КБЖУ на 100 г; составные продукты получают их из актуальных компонентов при запросе. Весь каталог не обязан быть связным, показан один связный пример. Admin поддерживает общие позиции и лейблы. Поиск помогает найти продукт, а лейблы фильтруют каталог.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docs/requirements/functional/meal-diary.md; docs/requirements/domain/units-of-measurement.md;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docs/requirements/functional/analytics.md. Диаграммы на слайде схематичны и не содержат фактических пользовательских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docs/requirements/README.md; docs/requirements/vision/product-vision.md;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59a42da61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1625ec1994c78" /><Relationship Type="http://schemas.openxmlformats.org/officeDocument/2006/relationships/slideLayout" Target="/ppt/slideLayouts/slideLayout1.xml" Id="Rffcf881db1ce47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f881db1ce47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62407144f4c7d" /><Relationship Type="http://schemas.openxmlformats.org/officeDocument/2006/relationships/image" Target="/ppt/media/image.png" Id="Rbbd3e3277cb84a99" /><Relationship Type="http://schemas.openxmlformats.org/officeDocument/2006/relationships/notesSlide" Target="/ppt/notesSlides/notesSlide1.xml" Id="Rf4a749a65a2f41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75aa7f9148a8" /><Relationship Type="http://schemas.openxmlformats.org/officeDocument/2006/relationships/notesSlide" Target="/ppt/notesSlides/notesSlide2.xml" Id="Re0ceee59ef724f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07abead6d44b7" /><Relationship Type="http://schemas.openxmlformats.org/officeDocument/2006/relationships/notesSlide" Target="/ppt/notesSlides/notesSlide3.xml" Id="Rc0139c2108d7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8596ebe3b4c64" /><Relationship Type="http://schemas.openxmlformats.org/officeDocument/2006/relationships/notesSlide" Target="/ppt/notesSlides/notesSlide4.xml" Id="R9f258d31b0114b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11c1291244de7" /><Relationship Type="http://schemas.openxmlformats.org/officeDocument/2006/relationships/image" Target="/ppt/media/image2.png" Id="R627502e681e746f9" /><Relationship Type="http://schemas.openxmlformats.org/officeDocument/2006/relationships/image" Target="/ppt/media/image3.png" Id="R643662cb3a2d4dd8" /><Relationship Type="http://schemas.openxmlformats.org/officeDocument/2006/relationships/image" Target="/ppt/media/image4.png" Id="Rc9479e6f25524dfc" /><Relationship Type="http://schemas.openxmlformats.org/officeDocument/2006/relationships/image" Target="/ppt/media/image5.png" Id="R8a925cdbb13242a4" /><Relationship Type="http://schemas.openxmlformats.org/officeDocument/2006/relationships/image" Target="/ppt/media/image6.png" Id="R4647e285e0b945e3" /><Relationship Type="http://schemas.openxmlformats.org/officeDocument/2006/relationships/image" Target="/ppt/media/image7.png" Id="R064fdff29a2e4391" /><Relationship Type="http://schemas.openxmlformats.org/officeDocument/2006/relationships/notesSlide" Target="/ppt/notesSlides/notesSlide5.xml" Id="Rd3f2226f9a9a4b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bdd24052e4f92" /><Relationship Type="http://schemas.openxmlformats.org/officeDocument/2006/relationships/notesSlide" Target="/ppt/notesSlides/notesSlide6.xml" Id="R83b1960403914b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bacb30310406f" /><Relationship Type="http://schemas.openxmlformats.org/officeDocument/2006/relationships/notesSlide" Target="/ppt/notesSlides/notesSlide7.xml" Id="R3a2216f9311e42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57faf6c7c4171" /><Relationship Type="http://schemas.openxmlformats.org/officeDocument/2006/relationships/notesSlide" Target="/ppt/notesSlides/notesSlide8.xml" Id="R81c0344b64a440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3e3277cb84a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38BC0-EF30-42B4-B84A-99898AFD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3CF90-9838-4FC4-954E-3B0024BB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4E765-E2AF-4993-B6B4-A87ED6B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Приложение для учёта питания,</a:t>
            </a:r>
          </a:p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калорий и БЖУ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7686D-6AD4-461E-BE37-56DEB913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Этап 1 · выбор темы и бизнес-требования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58735-985B-403E-9D18-333B74A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ИТМО · 2026</a:t>
            </a:r>
          </a:p>
        </p:txBody>
      </p:sp>
    </p:spTree>
    <p:extLst>
      <p:ext uri="{BB962C8B-B14F-4D97-AF65-F5344CB8AC3E}">
        <p14:creationId xmlns:p14="http://schemas.microsoft.com/office/powerpoint/2010/main" val="1043375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B2EAB-5B0B-4745-A214-FF3438FE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B56E1-7ECB-47C1-8C84-EC20350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Команда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17C81-B05F-4578-A895-6CE6E7CA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316C4-B867-4814-8B27-3DB1CA89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Формальные роли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399C3-8F2C-4167-8E00-30C00435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EC1F7-F649-4831-94F6-3BDBDFC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Валера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1BC3F-53B4-4ADA-95A1-038C8C8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DevOps-инженер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774A0-48C6-4008-B1FC-BD249E4B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DECCC-9CAD-4B37-8AD7-A8FA174C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Камила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34527-4EBD-48B2-8FEE-F5146E8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Тестировщик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76FA9-7596-4471-8C00-7D2FF3E6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DB649-D351-4B17-9E12-C38A7B6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Богдан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96C6B-1E5F-45C4-8802-81334C35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98196-E7EA-475D-A464-4BE271FB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81B7E-E2EB-4FC5-A6A8-BBB60144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Николай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1710-762E-407C-AFE6-7980FAC2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A4F7F-835F-4669-A79F-EB72155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68858-A451-421C-8F72-7E76F91F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Рауль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BFB05-1945-40B3-B2EC-994C9D17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3A6A2-C447-4F63-8567-EE82DB97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366E6-5219-4FC0-B7AE-F80A15F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B5874-4D0C-4780-AEAE-74441D5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6328A-66A7-4535-93B9-5E41D64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DF0DC-41DC-46BD-9A70-A79C8BC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Тема проекта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76EAC-2CD5-4A6D-B77E-A63FD7A6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1E68EB-2840-407C-9772-7A28A1D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Мобильное приложение с серверной частью для учёта питания, калорий и БЖУ.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9BEAC-46D0-4325-99D5-094414F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Проект объединяет личный дневник, каталог продуктов и анализ рациона.</a:t>
            </a:r>
          </a:p>
        </p:txBody>
      </p:sp>
    </p:spTree>
    <p:extLst>
      <p:ext uri="{BB962C8B-B14F-4D97-AF65-F5344CB8AC3E}">
        <p14:creationId xmlns:p14="http://schemas.microsoft.com/office/powerpoint/2010/main" val="1407721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DAFD2-130A-4F7A-8D51-7223B66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FFD07-BDD0-424E-A294-CB0A2C0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Пользователь и его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111F4-B465-4C5E-8CFA-6C6EEF5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089FF-1652-4A48-A657-A837FC1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Кому нужен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58A3F-F032-4CB1-8A37-16ACA28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Человеку, который хочет понимать свой рацион и менять пищевые привычки на основе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FFA05-F2FA-4704-B1E7-AC436EF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Учёт должен занимать минимум времени и не требовать постоянных ручных вычислений.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98A98-B87B-4F65-B458-F14BCEF2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6E887-A295-4C5F-BDC1-C262295F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Почему ручной учёт не работает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EE7D6-E839-4871-9A41-15DD5862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Нужно самостоятельно структурировать записи.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Калории и БЖУ приходится рассчитывать вручную.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 разрозненным заметкам трудно увидеть динамику и состав рациона.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C1EBD-0F2D-4B2A-BCB9-321E2303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Calorica переводит учёт в единый цифровой процесс: запись, расчёт и анализ находятся в одном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975181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DC13E-0BD8-4F32-8734-B80FA6A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3CB59-64D7-4774-A9D5-898651F5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Ценность Calorica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EC360-89A1-4063-802B-4FCA999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85A3C-22AB-4D82-A868-8F75C88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Пользовательский путь от продукта к пониманию рациона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0C9BC-93B9-45AE-8408-3C79D47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8ED17-FF6D-402F-AD63-BAEFC78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Найти 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D8439-AD8B-4656-B303-0C9ABA4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свои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4F55C-3AD1-4845-9194-4207A2B9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2F504-99F4-4A15-8098-7DA4DB4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9AB9F-0FBC-42E5-B0A7-1C9C142A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Добавить</a:t>
            </a:r>
          </a:p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 дневник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921DF-2F31-40EF-81BE-000F4ADF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Количество, время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лейблы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53786-AC34-4336-93B2-D607EE8E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67923-24E8-4D75-A063-01B8CD11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CD240-4AC2-44FF-AC11-02245C7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Получить расчёт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9353D-3898-42FE-9160-38DC6D80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ручных формул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A1847-C328-4049-A876-C157614D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D516F-93B1-4AAE-8D7E-3A78401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05577-0825-48A1-B384-2524BC32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Открыть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1389B-AF70-4B6B-8A3B-580CB26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День, неделя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месяц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0CFF9-BB5F-4AF0-93D6-6D181FF6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7F0C1-DD8B-49CB-A0CD-35316953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Сервер хранит данные, проверяет права и выполняет расчёты. Мобильный клиент отвечает за интерфейс, запросы к API и кэширование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570386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DD65E9-2E83-4EF5-9FB8-124BC243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5320-D51F-4254-BC1B-5A2CB0F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Каталог и граф продуктов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86B93-3B03-45EA-87C2-F874A9D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D3BA3-43AA-48F9-B7AD-AF988C53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Продукт становится составным после добавления компонентов.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B2623-7516-4BEB-94CD-6D0959F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Составные продукты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E40BC-2FD2-483E-8C7B-BAE439B7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Конечные продукты</a:t>
            </a:r>
          </a:p>
        </p:txBody>
      </p:sp>
      <p:sp>
        <p:nvSpPr>
          <p:cNvPr id="7" name="Салат с соусом">
            <a:extLst xmlns:a="http://schemas.openxmlformats.org/drawingml/2006/main">
              <a:ext uri="{FF2B5EF4-FFF2-40B4-BE49-F238E27FC236}">
                <a16:creationId xmlns:a16="http://schemas.microsoft.com/office/drawing/2014/main" id="{FDF74AAF-E97A-467C-BA08-B00297D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502e681e746f9"/>
          <a:srcRect xmlns:a="http://schemas.openxmlformats.org/drawingml/2006/main" l="0" t="0" r="66667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" y="31051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A7B46-4291-4629-B4F5-EEF6E3A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Салат с соусом</a:t>
            </a:r>
          </a:p>
        </p:txBody>
      </p:sp>
      <p:sp>
        <p:nvSpPr>
          <p:cNvPr id="10" name="Овощная смесь">
            <a:extLst xmlns:a="http://schemas.openxmlformats.org/drawingml/2006/main">
              <a:ext uri="{FF2B5EF4-FFF2-40B4-BE49-F238E27FC236}">
                <a16:creationId xmlns:a16="http://schemas.microsoft.com/office/drawing/2014/main" id="{99650A2F-4C3C-4187-A0C2-E07E7857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662cb3a2d4dd8"/>
          <a:srcRect xmlns:a="http://schemas.openxmlformats.org/drawingml/2006/main" l="33333" t="0" r="33333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21050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477F8-47DD-4A55-B978-2853C0A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Овощная смесь</a:t>
            </a:r>
          </a:p>
        </p:txBody>
      </p:sp>
      <p:sp>
        <p:nvSpPr>
          <p:cNvPr id="13" name="Йогуртовый соус">
            <a:extLst xmlns:a="http://schemas.openxmlformats.org/drawingml/2006/main">
              <a:ext uri="{FF2B5EF4-FFF2-40B4-BE49-F238E27FC236}">
                <a16:creationId xmlns:a16="http://schemas.microsoft.com/office/drawing/2014/main" id="{7400F1C0-2C78-456B-9BB9-FFE41B6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3862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79e6f25524dfc"/>
          <a:srcRect xmlns:a="http://schemas.openxmlformats.org/drawingml/2006/main" l="66667" t="0" r="0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41052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1C152-C7EE-4901-9ADC-B91D0231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149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Йогуртовый соус</a:t>
            </a:r>
          </a:p>
        </p:txBody>
      </p:sp>
      <p:sp>
        <p:nvSpPr>
          <p:cNvPr id="16" name="Помидор">
            <a:extLst xmlns:a="http://schemas.openxmlformats.org/drawingml/2006/main">
              <a:ext uri="{FF2B5EF4-FFF2-40B4-BE49-F238E27FC236}">
                <a16:creationId xmlns:a16="http://schemas.microsoft.com/office/drawing/2014/main" id="{74AD7A76-B05E-4058-9655-6C3A852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25cdbb13242a4"/>
          <a:srcRect xmlns:a="http://schemas.openxmlformats.org/drawingml/2006/main" l="0" t="50000" r="6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19145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760F9-394E-4429-B1DA-34CF91C8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Помидор</a:t>
            </a:r>
          </a:p>
        </p:txBody>
      </p:sp>
      <p:sp>
        <p:nvSpPr>
          <p:cNvPr id="19" name="Огурец">
            <a:extLst xmlns:a="http://schemas.openxmlformats.org/drawingml/2006/main">
              <a:ext uri="{FF2B5EF4-FFF2-40B4-BE49-F238E27FC236}">
                <a16:creationId xmlns:a16="http://schemas.microsoft.com/office/drawing/2014/main" id="{B2E6A515-743F-4C2F-A25F-45C4672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7e285e0b945e3"/>
          <a:srcRect xmlns:a="http://schemas.openxmlformats.org/drawingml/2006/main" l="33333" t="50000" r="3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32480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CCD7D-30B2-4E9B-83A8-9B1DF308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57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Огурец</a:t>
            </a:r>
          </a:p>
        </p:txBody>
      </p:sp>
      <p:sp>
        <p:nvSpPr>
          <p:cNvPr id="22" name="Йогурт">
            <a:extLst xmlns:a="http://schemas.openxmlformats.org/drawingml/2006/main">
              <a:ext uri="{FF2B5EF4-FFF2-40B4-BE49-F238E27FC236}">
                <a16:creationId xmlns:a16="http://schemas.microsoft.com/office/drawing/2014/main" id="{8C8FC93D-4D28-4E76-A340-6393A77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2437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fdff29a2e4391"/>
          <a:srcRect xmlns:a="http://schemas.openxmlformats.org/drawingml/2006/main" l="66667" t="50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43910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DE1D1-59D6-4FF8-A0F6-F07CD4FF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00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Йогурт</a:t>
            </a:r>
          </a:p>
        </p:txBody>
      </p: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381250" y="2676525"/>
            <a:ext cx="26193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982F6-0A6B-47DA-B3B8-46645B6D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051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81250" y="3676650"/>
            <a:ext cx="26193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BB54F-C632-442B-929E-6177F70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624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429375" y="2486025"/>
            <a:ext cx="319087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BBC69-495D-44AB-992C-C91481F2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429375" y="2676525"/>
            <a:ext cx="31908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4F7243-1822-4C18-91B3-6351A27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cxnSp>
        <p:nvCxnSpPr>
          <p:cNvPr id="74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6429375" y="3819525"/>
            <a:ext cx="319087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CAD47-7D53-4C2D-98C5-7E242FD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cxnSp>
        <p:nvCxnSpPr>
          <p:cNvPr id="76" name=""/>
          <p:cNvCxnSpPr>
            <a:stCxn xmlns:a="http://schemas.openxmlformats.org/drawingml/2006/main" id="13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429375" y="4676775"/>
            <a:ext cx="319087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83"/>
            </a:solidFill>
            <a:prstDash val="solid"/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626AC8-A189-460D-A03F-E584FDB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C10F2-2DB6-4080-B163-18E6F2D9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Стрелка: состоит из компонента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Доли каждого состава дают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239B9A-5198-4212-961F-DA8FB31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КБЖУ из актуальных компонентов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6EE7E1-5310-4FE0-886C-BFB33018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345ED2-A425-4DAA-BD41-84CF54B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Ориентированный граф без циклов. Огурец общий для смеси и соуса. Доли условные.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B27D88-6BC7-4419-A15D-D3558CD6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каталог: около 50 продуктов, редактирует Admin. Личные продукты видны владельцу.</a:t>
            </a:r>
          </a:p>
        </p:txBody>
      </p:sp>
    </p:spTree>
    <p:extLst>
      <p:ext uri="{BB962C8B-B14F-4D97-AF65-F5344CB8AC3E}">
        <p14:creationId xmlns:p14="http://schemas.microsoft.com/office/powerpoint/2010/main" val="855385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767AC-38CD-415A-BFE3-50C4AD1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8155A-C826-4327-834E-B94BB9FA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Дневник и точность учёта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B7F90-58BC-4510-B7C8-DFB6C755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4F27B-0E9C-42E6-AE2D-1427A127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Запись доступна для любой выбранной 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0F7FF-57C8-4827-8C00-B3ABC6C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Сценарий добавления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6F167-DA29-48D8-98CE-1CF35E35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E9472-32BC-4E75-BF9B-38E0DA59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1494C-8D62-417D-8002-9767F688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Количество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 или мл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5FEDD-FEEE-4BBD-A2BB-1E7F318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B0F7D-696B-45DA-9754-8764D58C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граммах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11BB1-DBD6-4854-8EBC-A18E9939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Миллилитры доступны только там, где для продукта задан коэффициент перевода в граммы.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2F0B7-5AE2-4FA2-9CA3-E200AE2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CB7A2-B02E-4C3B-9C1E-BEE67335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Что хранит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DB73A-85C4-42F5-8031-8BFF7F0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Дата и время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Количество в граммах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Один или несколько лейблов приёма пищи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7B3FF-C03A-4CE8-892B-73E59300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Время подставляется автоматически и при необходимости меняется. Доступные лейблы: завтрак, обед, ужин, перекус.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906CD-69B2-4E4E-B6AE-7E0C00C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 рассчитываются из актуальной карточки продукта при запросе дневника и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2116845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00DF5A-7E7F-46A2-BDF0-50ABF67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3E759-3119-4791-8B9E-25AC0BDC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Анализ рациона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04A19-55C8-4D13-88EF-EC425135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41443-D3EC-45B4-9534-8082D37D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Выбранная дата определяет календарный день, неделю или месяц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84B6F-7D42-44AD-8D85-46EE87E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День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A7121-E937-40B2-9EE9-6C5B94BE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90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Неделя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B4D45-97D1-4EC1-9F63-E846912E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Месяц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577A8-C75F-4F0A-AB10-50E6E435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Сверху — средние калории и БЖУ за период. Дни без записей дают нулевой вклад в среднее.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98D22-C34E-4FE1-B306-5D932A5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Личные ориентиры по калориям, белкам, жирам и углеводам необязательны и задаются в профиле.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A54CC-A2EB-4C8B-BC7D-A04E4EE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0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D6252-BA2D-4DC0-8290-F43C821C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3917C-4134-420F-96AE-E06C4437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40970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CB7E3-A2F2-45CD-A52D-10C40163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31445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19050">
            <a:solidFill>
              <a:srgbClr val="7E9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04E8E-83AC-489C-B0E8-FA4E063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Ккал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5FDB8-D1B2-4F75-AF5D-AF83748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Белки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7E197-5BD4-4A55-838A-33526118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Жиры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BB4AF-3BF5-45D5-9187-3BE7F9F8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Углеводы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4448A-7D6B-4413-9251-04FC129C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Радар факта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относительно ориентира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7E53E-9897-4289-A272-35CF8CE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95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89604-2346-463D-A802-12C9FBA4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19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A7DCA-4710-4EF1-B08C-FF780159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3385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F043C-F0CC-481E-A2AB-0B4C00A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86150"/>
            <a:ext cx="19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93850-1928-4EE6-BA73-99060A84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84810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944A9-5555-44B8-8504-FC9065F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F7828-239F-42D8-97FA-AC755D5C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 дням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4547A-5106-49A6-9560-312E5666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9D889-30CB-4BED-9AFE-EC941BA0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Продуктовые лейблы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0EA93-D442-4E0B-AA34-38E638AA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Масса в граммах помогает увидеть состав рациона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3D0215-DB89-4AF7-967E-6201EF9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34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Лейблы приёмов пищи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EA03BD-D00A-42DB-8430-9D1B267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388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Столбцы калорий для завтрака, обеда, ужина и перекуса</a:t>
            </a:r>
          </a:p>
        </p:txBody>
      </p:sp>
    </p:spTree>
    <p:extLst>
      <p:ext uri="{BB962C8B-B14F-4D97-AF65-F5344CB8AC3E}">
        <p14:creationId xmlns:p14="http://schemas.microsoft.com/office/powerpoint/2010/main" val="613295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D4DA4-C36E-4491-96A0-93018CA7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7B0A3-889E-4105-929C-3D22BC8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Согласованный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9D75A-B59A-4F00-B088-E23EA4E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Тема, команда и бизнес-требования первого этапа зафиксированы.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5D69F-71E3-4ED5-B547-846B0085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39958-B4F8-48B7-A6D6-47588362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Мобильный 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145AF-A6EE-4B6D-85C7-A94FCDC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Интерфейс, запросы к API и кэширование уже полученных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60044-8A9A-42A1-8328-891CB270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5FFF6-523B-465A-BC06-645B064A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A8C75-885A-4422-95B3-314503CC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Серверная часть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CA0F2-7CD8-4DBC-9D10-DCBBBD0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Регистрация по e-mail и паролю, права доступа, хранение и расчёты.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E5AB5-69AB-43E5-9F0F-24AB17AB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28608-5D1D-48A7-BB74-4A55FBE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FA470-E26A-4812-B35D-774D740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Нормализованные 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F8792-6C72-4134-B1ED-C2C97B11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Продукты, дневник, лейблы и аналитика строятся из актуальных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C88E2-0C68-4839-B7A6-27C6EB22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 помогает видеть рацион и принимать собственные решения на основе учёта питания.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04FD0-9046-4F9E-8E3C-572DB0DC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8006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2026-09-24T16:11:07.7850000Z</dcterms:created>
  <dcterms:modified xsi:type="dcterms:W3CDTF">2026-09-24T16:11:07.7850000Z</dcterms:modified>
</coreProperties>
</file>