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82af9abbdb4770" /><Relationship Type="http://schemas.openxmlformats.org/officeDocument/2006/relationships/extended-properties" Target="/docProps/app.xml" Id="R429646376f0e4991" /><Relationship Type="http://schemas.openxmlformats.org/officeDocument/2006/relationships/officeDocument" Target="/ppt/presentation.xml" Id="R259f7be348ff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b3513bc1b41f0"/>
  </p:sldMasterIdLst>
  <p:notesMasterIdLst>
    <p:notesMasterId xmlns:r="http://schemas.openxmlformats.org/officeDocument/2006/relationships" r:id="Rb96263947ca14cad"/>
  </p:notesMasterIdLst>
  <p:sldIdLst>
    <p:sldId xmlns:r="http://schemas.openxmlformats.org/officeDocument/2006/relationships" id="256" r:id="R5eac4d1eb0ae4777"/>
    <p:sldId xmlns:r="http://schemas.openxmlformats.org/officeDocument/2006/relationships" id="257" r:id="R36e1b5d498bf4989"/>
    <p:sldId xmlns:r="http://schemas.openxmlformats.org/officeDocument/2006/relationships" id="258" r:id="Rae611f85dc6a4eb1"/>
    <p:sldId xmlns:r="http://schemas.openxmlformats.org/officeDocument/2006/relationships" id="259" r:id="R6a46abca861c436a"/>
    <p:sldId xmlns:r="http://schemas.openxmlformats.org/officeDocument/2006/relationships" id="260" r:id="R364f9b4ec4a54cb3"/>
    <p:sldId xmlns:r="http://schemas.openxmlformats.org/officeDocument/2006/relationships" id="261" r:id="Rf715b0fe1b294079"/>
    <p:sldId xmlns:r="http://schemas.openxmlformats.org/officeDocument/2006/relationships" id="262" r:id="R9e5a76776a9a4fa6"/>
    <p:sldId xmlns:r="http://schemas.openxmlformats.org/officeDocument/2006/relationships" id="263" r:id="Rcb1ce2b322634a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c51c1912f2413d" /><Relationship Type="http://schemas.openxmlformats.org/officeDocument/2006/relationships/slideMaster" Target="/ppt/slideMasters/slideMaster1.xml" Id="Rbbfb3513bc1b41f0" /><Relationship Type="http://schemas.openxmlformats.org/officeDocument/2006/relationships/notesMaster" Target="/ppt/notesMasters/notesMaster1.xml" Id="Rb96263947ca14cad" /><Relationship Type="http://schemas.openxmlformats.org/officeDocument/2006/relationships/presProps" Target="/ppt/presProps.xml" Id="R6810697d4368488f" /><Relationship Type="http://schemas.openxmlformats.org/officeDocument/2006/relationships/tableStyles" Target="/ppt/tableStyles.xml" Id="R893b1020aa7a43ef" /><Relationship Type="http://schemas.openxmlformats.org/officeDocument/2006/relationships/slide" Target="/ppt/slides/slide1.xml" Id="R5eac4d1eb0ae4777" /><Relationship Type="http://schemas.openxmlformats.org/officeDocument/2006/relationships/slide" Target="/ppt/slides/slide2.xml" Id="R36e1b5d498bf4989" /><Relationship Type="http://schemas.openxmlformats.org/officeDocument/2006/relationships/slide" Target="/ppt/slides/slide3.xml" Id="Rae611f85dc6a4eb1" /><Relationship Type="http://schemas.openxmlformats.org/officeDocument/2006/relationships/slide" Target="/ppt/slides/slide4.xml" Id="R6a46abca861c436a" /><Relationship Type="http://schemas.openxmlformats.org/officeDocument/2006/relationships/slide" Target="/ppt/slides/slide5.xml" Id="R364f9b4ec4a54cb3" /><Relationship Type="http://schemas.openxmlformats.org/officeDocument/2006/relationships/slide" Target="/ppt/slides/slide6.xml" Id="Rf715b0fe1b294079" /><Relationship Type="http://schemas.openxmlformats.org/officeDocument/2006/relationships/slide" Target="/ppt/slides/slide7.xml" Id="R9e5a76776a9a4fa6" /><Relationship Type="http://schemas.openxmlformats.org/officeDocument/2006/relationships/slide" Target="/ppt/slides/slide8.xml" Id="Rcb1ce2b322634a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c4be1cc90a45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0979d99f9b4fc3" /><Relationship Type="http://schemas.openxmlformats.org/officeDocument/2006/relationships/notesMaster" Target="/ppt/notesMasters/notesMaster1.xml" Id="Rc1c671491eac4f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5ee25fc08841a8" /><Relationship Type="http://schemas.openxmlformats.org/officeDocument/2006/relationships/notesMaster" Target="/ppt/notesMasters/notesMaster1.xml" Id="R919398bb446a41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0eb62bdd014400" /><Relationship Type="http://schemas.openxmlformats.org/officeDocument/2006/relationships/notesMaster" Target="/ppt/notesMasters/notesMaster1.xml" Id="Rb8bb25bfa6054b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b564efc276423b" /><Relationship Type="http://schemas.openxmlformats.org/officeDocument/2006/relationships/notesMaster" Target="/ppt/notesMasters/notesMaster1.xml" Id="R9b89ca7b6b3b43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540b3fd3164f54" /><Relationship Type="http://schemas.openxmlformats.org/officeDocument/2006/relationships/notesMaster" Target="/ppt/notesMasters/notesMaster1.xml" Id="Rd39dfc6429b847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caa7e2584647a1" /><Relationship Type="http://schemas.openxmlformats.org/officeDocument/2006/relationships/notesMaster" Target="/ppt/notesMasters/notesMaster1.xml" Id="Rc699c3f562fd46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8f5eda65174a3a" /><Relationship Type="http://schemas.openxmlformats.org/officeDocument/2006/relationships/notesMaster" Target="/ppt/notesMasters/notesMaster1.xml" Id="Reabcb9ca0ee144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71c11d60c44d00" /><Relationship Type="http://schemas.openxmlformats.org/officeDocument/2006/relationships/notesMaster" Target="/ppt/notesMasters/notesMaster1.xml" Id="R8b668e1305eb4a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docs/requirements/vision/product-vision.md. Изображение — иллюстрация, созданная для обложки; не демонстрирует готовый интерфейс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docs/requirements/vision/product-vision.md, раздел «Команда проекта».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docs/requirements/vision/target-users-and-problem.md.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docs/requirements/vision/product-vision.md; docs/requirements/functional/meal-diary.md;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docs/requirements/functional/product-catalog.md; docs/requirements/domain/product-composition-graph.md; docs/requirements/data/base-catalog.md.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docs/requirements/functional/meal-diary.md; docs/requirements/domain/units-of-measurement.md;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docs/requirements/functional/analytics.md. Диаграммы на слайде схематичны и не содержат фактических пользовательских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docs/requirements/README.md; docs/requirements/vision/product-vision.md;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51649e6754f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538af209d1418c" /><Relationship Type="http://schemas.openxmlformats.org/officeDocument/2006/relationships/slideLayout" Target="/ppt/slideLayouts/slideLayout1.xml" Id="R97ebd9f5da6440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ebd9f5da6440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5983f58044b55" /><Relationship Type="http://schemas.openxmlformats.org/officeDocument/2006/relationships/image" Target="/ppt/media/image.png" Id="Rb55fba8bebd14311" /><Relationship Type="http://schemas.openxmlformats.org/officeDocument/2006/relationships/notesSlide" Target="/ppt/notesSlides/notesSlide1.xml" Id="R96759815467245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efef0a0ba4da8" /><Relationship Type="http://schemas.openxmlformats.org/officeDocument/2006/relationships/notesSlide" Target="/ppt/notesSlides/notesSlide2.xml" Id="R06a3d9099b3341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45092f76841b6" /><Relationship Type="http://schemas.openxmlformats.org/officeDocument/2006/relationships/notesSlide" Target="/ppt/notesSlides/notesSlide3.xml" Id="R63520231bda445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e07da6d874f3b" /><Relationship Type="http://schemas.openxmlformats.org/officeDocument/2006/relationships/notesSlide" Target="/ppt/notesSlides/notesSlide4.xml" Id="Rb9a3bf54941b46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7f27dc17a4341" /><Relationship Type="http://schemas.openxmlformats.org/officeDocument/2006/relationships/notesSlide" Target="/ppt/notesSlides/notesSlide5.xml" Id="R980e097541de43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455580f0641fe" /><Relationship Type="http://schemas.openxmlformats.org/officeDocument/2006/relationships/notesSlide" Target="/ppt/notesSlides/notesSlide6.xml" Id="Rdfc945995a0244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bbc4e54bd41d5" /><Relationship Type="http://schemas.openxmlformats.org/officeDocument/2006/relationships/notesSlide" Target="/ppt/notesSlides/notesSlide7.xml" Id="R7a1bb23b79064f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81c94cf194dcf" /><Relationship Type="http://schemas.openxmlformats.org/officeDocument/2006/relationships/notesSlide" Target="/ppt/notesSlides/notesSlide8.xml" Id="R2cae96423a0040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fba8bebd143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4389E-631F-499D-8CB0-33014C19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8D7ED-1EBB-4602-872D-5CC2EEBD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E0703-4EBC-4904-BA1F-D42E3490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Приложение для учёта питания,</a:t>
            </a:r>
          </a:p>
          <a:p xmlns:a="http://schemas.openxmlformats.org/drawingml/2006/main">
            <a:pPr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калорий и БЖУ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AFB0F-25FA-43B6-9D95-E0034800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Этап 1 · выбор темы и бизнес-требования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CF86A-3081-434D-BC60-900522A5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ИТМО · 2026</a:t>
            </a:r>
          </a:p>
        </p:txBody>
      </p:sp>
    </p:spTree>
    <p:extLst>
      <p:ext uri="{BB962C8B-B14F-4D97-AF65-F5344CB8AC3E}">
        <p14:creationId xmlns:p14="http://schemas.microsoft.com/office/powerpoint/2010/main" val="572799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7AE22-2B51-4138-AA77-0B4E0C27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39B3B-8584-4FA9-980E-79DEB84A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Команда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F58A7-8B0E-406A-A73E-5C7EA3F5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14845-F396-40B2-9768-60DAFB48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Формальные роли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1FBDA-C47A-48E0-8CD4-DE323A9A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00F75-829D-49B8-A717-8CC5F283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Валера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9A39D-F671-46CB-858C-88A80BEF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DevOps-инженер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FF2DE-DC65-4954-9ACD-27CFB4F4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A42CF-41BE-4D3C-BCBA-7210B93B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Камила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A921D-F146-4DF7-850A-A1F5C86C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0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Тестировщик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E0FDC-0A1B-4D86-905B-72E3CB32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B551E-531C-4A3D-BC57-C1D58CFA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Богдан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43023-8BEF-430F-AB10-8446876F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289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3B430-21E5-414F-B864-80881391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1F12E-5268-41A3-B8BF-38FDE0C5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Николай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54D14-9E26-4859-A8ED-42BB2A63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57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2B489-4CD1-4520-A812-528C153E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09062-0FB0-4DE8-AFC2-18540325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Рауль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1546C-EDFD-4FC5-8458-67FA6F2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86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Аналитик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6D7F2-0EE2-4906-AD5E-67EB9C22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B996A-D319-4D4A-8C94-B9952A8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Тема проекта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37041-2DF4-4FC4-8A74-5D60B3B8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2C397-B20B-41C0-AAE0-0B7F5FCF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Мобильное приложение с серверной частью для учёта питания, калорий и БЖУ.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FAB5F-552E-4966-ACF3-1564550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576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Проект объединяет личный дневник, каталог продуктов и анализ рациона.</a:t>
            </a:r>
          </a:p>
        </p:txBody>
      </p:sp>
    </p:spTree>
    <p:extLst>
      <p:ext uri="{BB962C8B-B14F-4D97-AF65-F5344CB8AC3E}">
        <p14:creationId xmlns:p14="http://schemas.microsoft.com/office/powerpoint/2010/main" val="223104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CA4AB-EED9-4D40-AC95-E27AB357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277B6-48D0-4224-AF30-A4E0EB81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Пользователь и его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3097D-1723-493E-ADF4-66A02C66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50386-C80D-4074-86AF-641F8EDB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Кому нужен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3C815-4C8F-43D5-AE8A-10CD4708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Человеку, который хочет понимать свой рацион и менять пищевые привычки на основе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08E6D-3659-40FB-81C6-BA5DB36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Учёт должен занимать минимум времени и не требовать постоянных ручных вычислений.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6C3F2-6BF9-4B77-A136-C3B35FA6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049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AB8A9-60AF-4443-B1EF-6F39CDF1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Почему ручной учёт не работает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CEC22-8A81-48E5-A76E-C09DC8D1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Нужно самостоятельно структурировать записи.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Калории и БЖУ приходится рассчитывать вручную.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 разрозненным заметкам трудно увидеть динамику и состав рациона.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D851D-1000-4B6F-AD9F-A6E2918E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Calorica переводит учёт в единый цифровой процесс: запись, расчёт и анализ находятся в одном месте.</a:t>
            </a:r>
          </a:p>
        </p:txBody>
      </p:sp>
    </p:spTree>
    <p:extLst>
      <p:ext uri="{BB962C8B-B14F-4D97-AF65-F5344CB8AC3E}">
        <p14:creationId xmlns:p14="http://schemas.microsoft.com/office/powerpoint/2010/main" val="178649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9A3C6-D919-4E36-822B-2AD7BEA1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9FE87-8028-4E5F-927C-804F8976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Ценность Calorica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81407-CEE5-4030-8A5B-83EFC9DF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408F1-EC8A-42A3-A2A0-532EBC59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Пользовательский путь от продукта к пониманию рациона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3D904-2797-4BAC-AC8C-77ABEFAD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E1DE4-FDD5-4EED-8763-AC09EF37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Найти продукт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DCD8C-F78A-4082-9382-588B281A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Базовый каталог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 свои продукты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3AF68-0450-4730-B41F-AA5E207F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E0BC9-C19C-44B6-A4A7-C99C4EB5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21505-9C6C-4295-B774-E8EF75EB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Добавить</a:t>
            </a:r>
          </a:p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 дневник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82B44-157F-469B-BA14-4E3EF01A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Количество, время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 лейблы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F41CC-E8F7-4B18-9637-B6595B2A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56190-ADAA-4D1D-A9F4-6EB8CFF2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024C1-F03E-448F-B925-0EB88064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Получить расчёт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58AAB-5F1E-49D1-B120-2CE70C95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без ручных формул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736F6-A623-405B-9DAB-C2878C43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DEB53-8D91-4F2F-82B8-CD7716E5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AE816-7D62-4562-B478-89C8FAE0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Открыть 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1D74A-8BD0-4876-A053-3FE901FB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День, неделя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или месяц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5247E-84A7-439C-A1E9-845D05F7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A242D-D7EC-4C3C-A2FE-77F986C2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Сервер хранит данные, проверяет права и выполняет расчёты. Мобильный клиент отвечает за интерфейс, запросы к API и кэширование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1561172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C3629-C394-466F-BAF7-909D5483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1A17B-BC5A-4BC5-B841-F31D3D53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Каталог и единая модель продуктов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EFFA7-773F-422E-96D8-A9CF5A99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A87E5-723B-481C-8B4F-998EFDD2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Каталог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7E3BB-ADB6-4E91-8963-D8734359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Базовый каталог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E693C-BDD3-48C1-A872-9643EBF1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Около 50 распространённых продуктов. Admin поддерживает общие позиции и лейблы.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B3AC2-562A-4191-AAE8-2B26D4AA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Личные продукты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0E635-8090-4ED6-871E-529D4D07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Видны только владельцу. Поиск помогает быстро найти продукт, а лейблы — отфильтровать каталог.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BFA5F-FB7F-4B80-8605-ED6FBFB9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037A9-8AE4-40D4-AA31-B26A41D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66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Составной 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048E6-A50F-417F-BAEE-2291E847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КБЖУ рассчитываются из актуальных компонентов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8892A-75C5-44E0-B143-7C7E0EC6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543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Конечный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0AE2B-E8EC-4B6A-81BA-BA03B404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1543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Конечный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7F093-DC97-4CB0-87E3-90343892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1962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Составной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cxnSp>
        <p:nvCxnSpPr>
          <p:cNvPr id="33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72300" y="3381375"/>
            <a:ext cx="175260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C5B5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972300" y="3981450"/>
            <a:ext cx="17526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C5B5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53765-35EB-4A0A-BB84-0E17FE0E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100% массовых долей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Без циклов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011C8-D247-47D0-8BF7-EC293DE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150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Один продукт может быть конечным сегодня и стать составным после добавления компонентов.</a:t>
            </a:r>
          </a:p>
        </p:txBody>
      </p:sp>
    </p:spTree>
    <p:extLst>
      <p:ext uri="{BB962C8B-B14F-4D97-AF65-F5344CB8AC3E}">
        <p14:creationId xmlns:p14="http://schemas.microsoft.com/office/powerpoint/2010/main" val="643884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7A01F-51C9-45A7-B708-780A8583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7580B-6CD0-4EFD-A4F6-467C413F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Дневник и точность учёта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C8D57-04BE-44B5-B6BB-AD247F04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704D9-BB85-4BA7-82D9-3DC35B80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Запись доступна для любой выбранной даты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3A047-4E26-4BEC-B283-18BA294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Сценарий добавления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58947-53B5-443C-B3E9-91C0D1BF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2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C84C1-A06F-4F01-B931-6E8D2400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AE3AD-6B17-4B0D-AD77-89CCDDB8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Количество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 или мл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F7EEF-68BF-4BA8-A83F-E1A2057A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67EDD-2A11-4066-A897-92A748ED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Запись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 граммах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C33D6-E834-4F15-BF4C-E6B2DF2A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Миллилитры доступны только там, где для продукта задан коэффициент перевода в граммы.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7EE14-1348-4266-9216-8D6DB25B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38AE3-D6E5-4667-A80F-190F1B1D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Что хранит запись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FA1C2-F6F4-4D67-849F-094F9A88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809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Дата и время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Количество в граммах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Один или несколько лейблов приёма пищи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D566F-E4C7-4E80-8383-25A641EF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Время подставляется автоматически и при необходимости меняется. Доступные лейблы: завтрак, обед, ужин, перекус.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DAB9F-7581-4590-AEA2-8680296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 рассчитываются из актуальной карточки продукта при запросе дневника и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12397382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146DA-B311-40D2-A6BB-BDF9D7BE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D0624-D413-4509-B110-C31BA117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Анализ рациона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B5D75-A8E6-4BEE-8F21-2006AA1B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CFE20-E499-4682-8A1B-B8DC2EEB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00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Выбранная дата определяет календарный день, неделю или месяц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9EDFC-3FC0-4BE3-8C56-851A067A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День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6B839-32B3-4104-BCD6-D7F6B3C6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907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Неделя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941A4-6F3D-4571-A124-71AEF5D8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Месяц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29E71-CAC2-4834-8971-A4CE930B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Сверху — средние калории и БЖУ за период. Дни без записей дают нулевой вклад в среднее.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4F7E5-5ABA-4126-8A48-056D79C3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Личные ориентиры по калориям, белкам, жирам и углеводам необязательны и задаются в профиле.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DDF51-7EA5-4D6F-A850-159C3168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0" cy="1943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ABBE1-5C22-47DA-96D3-8A0C8EC6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02D82-FA89-451D-BFBA-FE3FE925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1409700" cy="1409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918C8-A92E-4C5B-92CB-BE4AC779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1314450" cy="1066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19050">
            <a:solidFill>
              <a:srgbClr val="7E9B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3A5BC-1697-49D4-8816-93935B67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14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Ккал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15D19-065F-489C-A2A4-7433EE82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Белки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FCBD3-CB7E-42CA-97FC-1317FF92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29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Жиры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917D5-BD04-4D29-8A77-1112B7F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Углеводы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D9D39-E558-40B0-B60A-D2153D3C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Радар факта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относительно ориентира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C293E-CFA0-4302-B269-8EFAAC1C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195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0A645-75D8-4E0D-8743-532EAC66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95700"/>
            <a:ext cx="19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06531-A67D-4782-8142-5747C1EC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33850"/>
            <a:ext cx="19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46D20-4DD9-4688-A9F4-D98B3CE5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86150"/>
            <a:ext cx="19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02FF4-9EBA-4115-B92F-6E070950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84810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D6EC6-F696-4D3A-B4ED-0F07BF9E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179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5B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5BF99-68E1-4515-B45E-68F7AAF4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 дням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BDA6D-812E-4F42-B3D6-0695C102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4A486-6460-4DAF-BC44-17D1F653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Продуктовые лейблы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8A5A4-3C59-45D2-AE08-DC82AEAB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404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Масса в граммах помогает увидеть состав рациона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90CA9-D04C-4469-BC4C-80C871A4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34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Лейблы приёмов пищи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F535B1-6C72-4DEA-81FC-D689A074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0388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Столбцы калорий для завтрака, обеда, ужина и перекуса</a:t>
            </a:r>
          </a:p>
        </p:txBody>
      </p:sp>
    </p:spTree>
    <p:extLst>
      <p:ext uri="{BB962C8B-B14F-4D97-AF65-F5344CB8AC3E}">
        <p14:creationId xmlns:p14="http://schemas.microsoft.com/office/powerpoint/2010/main" val="12015826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55931-45F9-4638-A364-C1318A67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A9BF0-E08E-4EFB-BCAB-AF66AB98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Согласованный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B2A04-CC24-4CE3-A05A-74CBF5D4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Тема, команда и бизнес-требования первого этапа зафиксированы.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E8A30-A401-4FC3-9D39-90CD4126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8AB8A-4874-4EE0-9E1B-94AC7196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Мобильный клиент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AAE6C-EAC4-420B-876F-12BD01F7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526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Интерфейс, запросы к API и кэширование уже полученных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2A3C3-9ED5-47A6-8457-E102D4AF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0DC2C-036A-4A7B-83FF-8BE71632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23CEB-E20C-4E88-B8DF-8C98D53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Серверная часть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ACA48-8CDA-4529-90CA-D88E53B9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04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Регистрация по e-mail и паролю, права доступа, хранение и расчёты.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1BF51-5BCC-4CCA-9CBE-127AB5B9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6645B-2E3F-4C02-8634-7740FD5B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B53E8-EFEC-4CC5-9BD1-49F326DA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Нормализованные данные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691AE-75ED-464D-85A4-443CC05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481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Продукты, дневник, лейблы и аналитика строятся из актуальных данных.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8E2A7-DC99-4796-941C-CCCD7793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 помогает видеть рацион и принимать собственные решения на основе учёта питания.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CA61C-7C82-4A4E-A647-D4FF3082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6549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2026-09-23T22:23:21.9490000Z</dcterms:created>
  <dcterms:modified xsi:type="dcterms:W3CDTF">2026-09-23T22:23:21.9490000Z</dcterms:modified>
</coreProperties>
</file>